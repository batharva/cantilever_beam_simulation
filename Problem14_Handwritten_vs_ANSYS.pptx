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66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a statically loaded cantilever I-beam. We solved it by hand and verified it in ANSYS Mechanical 2026 R1 Student. This talk compares the two.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sigma_yt = 250 MPa, 3 m cantilever, load rising from 12 kN/m at the free end to 18 kN/m at the wall. Find the safety factor at the critical element using an appropriate failure theory.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moment of area: web 20 x 300 plus two flanges of 250 x 20 placed 160 mm from the neutral axis, using the parallel-axis theorem. Total Izz = 3.0133e-4 m^4.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split into a 12 kN/m rectangle (36 kN at 1.5 m) and a 0 to 6 kN/m triangle (9 kN). Max moment and shear occur at the wall B. Note: the 2 m arm for the triangle is revisited on the verification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 is the extreme fibre: pure bending, zero shear. Point C is the neutral axis: pure shear. Since 40.62 MPa is much larger than 7.65 MPa, B is taken as the critical element.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B the state is uniaxial, so von Mises and Tresca coincide. Safety factor = 6.15.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trapezoidal line load is applied as a tabular pressure on the top face. 48,000 Pa and 72,000 Pa times the 0.25 m face width reproduce 12 and 18 kN/m. The fixed support is at the left end, matching wall 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Deflection peaks at the free end (2.42 mm). Von Mises and shear stress peak at the top and bottom edges of the fixed end. The Stress Tool gives a minimum safety factor of 6.16 at the same location.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methods land at a safety factor of about 6.2. ANSYS reports 6.1613 as the minimum of the Stress Tool, hand calculation gives 6.15.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and safety factor agree within 0.2 percent. The hand shear value is the Tresca sigma/2, while ANSYS reports the full-field maximum shear stress, which includes local effects at the support.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this yourself before the presentation. For a triangular load that is zero at the free end and maximum at the wall, the centroid of the load is one third of the length from the wall, so the arm about B is 1 m. That gives 63 kN·m. The ANSYS model itself applies the load correctly (72 kPa at the wall, 48 kPa at the free end). If you keep the 72 kN·m version, be ready for this question.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both approaches identify the wall as critical and give SF around 6.2. The simulation is a useful cross-check, and the discrepancy analysis shows where to refine.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Shape 0"/>
          <p:cNvSpPr/>
          <p:nvPr/>
        </p:nvSpPr>
        <p:spPr>
          <a:xfrm>
            <a:off x="548640" y="1097280"/>
            <a:ext cx="1371600" cy="292608"/>
          </a:xfrm>
          <a:prstGeom prst="roundRect">
            <a:avLst>
              <a:gd name="adj" fmla="val 46875"/>
            </a:avLst>
          </a:prstGeom>
          <a:solidFill>
            <a:srgbClr val="D9480F"/>
          </a:solidFill>
          <a:ln w="12700">
            <a:solidFill>
              <a:srgbClr val="D9480F"/>
            </a:solidFill>
            <a:prstDash val="solid"/>
          </a:ln>
        </p:spPr>
      </p:sp>
      <p:sp>
        <p:nvSpPr>
          <p:cNvPr id="3" name="Text 1"/>
          <p:cNvSpPr txBox="1"/>
          <p:nvPr/>
        </p:nvSpPr>
        <p:spPr>
          <a:xfrm>
            <a:off x="548640" y="1097280"/>
            <a:ext cx="13716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sp>
        <p:nvSpPr>
          <p:cNvPr id="4" name="Shape 2"/>
          <p:cNvSpPr/>
          <p:nvPr/>
        </p:nvSpPr>
        <p:spPr>
          <a:xfrm>
            <a:off x="2057400" y="1097280"/>
            <a:ext cx="914400" cy="292608"/>
          </a:xfrm>
          <a:prstGeom prst="roundRect">
            <a:avLst>
              <a:gd name="adj" fmla="val 46875"/>
            </a:avLst>
          </a:prstGeom>
          <a:solidFill>
            <a:srgbClr val="1C6DD0"/>
          </a:solidFill>
          <a:ln w="12700">
            <a:solidFill>
              <a:srgbClr val="1C6DD0"/>
            </a:solidFill>
            <a:prstDash val="solid"/>
          </a:ln>
        </p:spPr>
      </p:sp>
      <p:sp>
        <p:nvSpPr>
          <p:cNvPr id="5" name="Text 3"/>
          <p:cNvSpPr txBox="1"/>
          <p:nvPr/>
        </p:nvSpPr>
        <p:spPr>
          <a:xfrm>
            <a:off x="2057400" y="1097280"/>
            <a:ext cx="9144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ANSYS</a:t>
            </a:r>
            <a:endParaRPr lang="en-US" sz="1100" dirty="0"/>
          </a:p>
        </p:txBody>
      </p:sp>
      <p:sp>
        <p:nvSpPr>
          <p:cNvPr id="6" name="Text 4"/>
          <p:cNvSpPr txBox="1"/>
          <p:nvPr/>
        </p:nvSpPr>
        <p:spPr>
          <a:xfrm>
            <a:off x="548640" y="1600200"/>
            <a:ext cx="8046720" cy="82296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Problem 14: Cantilever I-Beam</a:t>
            </a:r>
            <a:endParaRPr lang="en-US" sz="4200" dirty="0"/>
          </a:p>
        </p:txBody>
      </p:sp>
      <p:sp>
        <p:nvSpPr>
          <p:cNvPr id="7" name="Text 5"/>
          <p:cNvSpPr txBox="1"/>
          <p:nvPr/>
        </p:nvSpPr>
        <p:spPr>
          <a:xfrm>
            <a:off x="548640" y="2514600"/>
            <a:ext cx="7680960" cy="73152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Safety factor of the critical element: hand calculation vs FEA simulation</a:t>
            </a:r>
            <a:endParaRPr lang="en-US" sz="2000" dirty="0"/>
          </a:p>
        </p:txBody>
      </p:sp>
      <p:sp>
        <p:nvSpPr>
          <p:cNvPr id="8" name="Text 6"/>
          <p:cNvSpPr txBox="1"/>
          <p:nvPr/>
        </p:nvSpPr>
        <p:spPr>
          <a:xfrm>
            <a:off x="548640" y="4114800"/>
            <a:ext cx="7680960" cy="365760"/>
          </a:xfrm>
          <a:prstGeom prst="rect">
            <a:avLst/>
          </a:prstGeom>
          <a:noFill/>
          <a:ln/>
        </p:spPr>
        <p:txBody>
          <a:bodyPr wrap="square" lIns="0" tIns="0" rIns="0" bIns="0" rtlCol="0" anchor="ctr"/>
          <a:lstStyle/>
          <a:p>
            <a:pPr marL="0" indent="0">
              <a:buNone/>
            </a:pPr>
            <a:r>
              <a:rPr lang="en-US" sz="1400" dirty="0">
                <a:solidFill>
                  <a:srgbClr val="9AA5B4"/>
                </a:solidFill>
                <a:latin typeface="Calibri" pitchFamily="34" charset="0"/>
                <a:ea typeface="Calibri" pitchFamily="34" charset="-122"/>
                <a:cs typeface="Calibri" pitchFamily="34" charset="-120"/>
              </a:rPr>
              <a:t>Ductile material, σyt = 250 MPa  |  von Mises and Tresca theories</a:t>
            </a:r>
            <a:endParaRPr lang="en-US" sz="1400" dirty="0"/>
          </a:p>
        </p:txBody>
      </p:sp>
      <p:sp>
        <p:nvSpPr>
          <p:cNvPr id="10" name="TextBox 9">
            <a:extLst>
              <a:ext uri="{FF2B5EF4-FFF2-40B4-BE49-F238E27FC236}">
                <a16:creationId xmlns:a16="http://schemas.microsoft.com/office/drawing/2014/main" id="{BF4ECF10-D6AA-0A4A-398A-291176F82213}"/>
              </a:ext>
            </a:extLst>
          </p:cNvPr>
          <p:cNvSpPr txBox="1"/>
          <p:nvPr/>
        </p:nvSpPr>
        <p:spPr>
          <a:xfrm>
            <a:off x="548640" y="3291840"/>
            <a:ext cx="1817549" cy="646331"/>
          </a:xfrm>
          <a:prstGeom prst="rect">
            <a:avLst/>
          </a:prstGeom>
          <a:noFill/>
        </p:spPr>
        <p:txBody>
          <a:bodyPr wrap="none" rtlCol="0">
            <a:spAutoFit/>
          </a:bodyPr>
          <a:lstStyle/>
          <a:p>
            <a:r>
              <a:rPr lang="en-US" b="1" i="1" dirty="0">
                <a:solidFill>
                  <a:schemeClr val="bg1"/>
                </a:solidFill>
              </a:rPr>
              <a:t>Atharva Bhosale </a:t>
            </a:r>
          </a:p>
          <a:p>
            <a:r>
              <a:rPr lang="en-US" b="1" i="1" dirty="0">
                <a:solidFill>
                  <a:schemeClr val="bg1"/>
                </a:solidFill>
              </a:rPr>
              <a:t>ME24B005</a:t>
            </a:r>
            <a:endParaRPr lang="en-IN" b="1"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Problem statement and approach</a:t>
            </a:r>
            <a:endParaRPr lang="en-US" sz="2600" dirty="0"/>
          </a:p>
        </p:txBody>
      </p:sp>
      <p:pic>
        <p:nvPicPr>
          <p:cNvPr id="3" name="Image 0" descr="img/hw_problem.png"/>
          <p:cNvPicPr>
            <a:picLocks noChangeAspect="1"/>
          </p:cNvPicPr>
          <p:nvPr/>
        </p:nvPicPr>
        <p:blipFill>
          <a:blip r:embed="rId3"/>
          <a:stretch>
            <a:fillRect/>
          </a:stretch>
        </p:blipFill>
        <p:spPr>
          <a:xfrm>
            <a:off x="2161309" y="960120"/>
            <a:ext cx="4821382" cy="1828800"/>
          </a:xfrm>
          <a:prstGeom prst="rect">
            <a:avLst/>
          </a:prstGeom>
        </p:spPr>
      </p:pic>
      <p:sp>
        <p:nvSpPr>
          <p:cNvPr id="4" name="Shape 1"/>
          <p:cNvSpPr/>
          <p:nvPr/>
        </p:nvSpPr>
        <p:spPr>
          <a:xfrm>
            <a:off x="2161309" y="960120"/>
            <a:ext cx="4821382" cy="1828800"/>
          </a:xfrm>
          <a:prstGeom prst="rect">
            <a:avLst/>
          </a:prstGeom>
          <a:solidFill>
            <a:srgbClr val="FFFFFF">
              <a:alpha val="0"/>
            </a:srgbClr>
          </a:solidFill>
          <a:ln w="9525">
            <a:solidFill>
              <a:srgbClr val="C9CFD6"/>
            </a:solidFill>
            <a:prstDash val="solid"/>
          </a:ln>
        </p:spPr>
      </p:sp>
      <p:sp>
        <p:nvSpPr>
          <p:cNvPr id="5" name="Shape 2"/>
          <p:cNvSpPr/>
          <p:nvPr/>
        </p:nvSpPr>
        <p:spPr>
          <a:xfrm>
            <a:off x="457200" y="3017520"/>
            <a:ext cx="1965960" cy="91440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6" name="Text 3"/>
          <p:cNvSpPr txBox="1"/>
          <p:nvPr/>
        </p:nvSpPr>
        <p:spPr>
          <a:xfrm>
            <a:off x="594360" y="3072384"/>
            <a:ext cx="1691640" cy="45720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σyt = 250 MPa</a:t>
            </a:r>
            <a:endParaRPr lang="en-US" sz="1700" dirty="0"/>
          </a:p>
        </p:txBody>
      </p:sp>
      <p:sp>
        <p:nvSpPr>
          <p:cNvPr id="7" name="Text 4"/>
          <p:cNvSpPr txBox="1"/>
          <p:nvPr/>
        </p:nvSpPr>
        <p:spPr>
          <a:xfrm>
            <a:off x="594360" y="3493008"/>
            <a:ext cx="1691640" cy="384048"/>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Ductile material, static load</a:t>
            </a:r>
            <a:endParaRPr lang="en-US" sz="1100" dirty="0"/>
          </a:p>
        </p:txBody>
      </p:sp>
      <p:sp>
        <p:nvSpPr>
          <p:cNvPr id="8" name="Shape 5"/>
          <p:cNvSpPr/>
          <p:nvPr/>
        </p:nvSpPr>
        <p:spPr>
          <a:xfrm>
            <a:off x="2560320" y="3017520"/>
            <a:ext cx="1965960" cy="91440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9" name="Text 6"/>
          <p:cNvSpPr txBox="1"/>
          <p:nvPr/>
        </p:nvSpPr>
        <p:spPr>
          <a:xfrm>
            <a:off x="2697480" y="3072384"/>
            <a:ext cx="1691640" cy="45720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L = 3 m</a:t>
            </a:r>
            <a:endParaRPr lang="en-US" sz="1700" dirty="0"/>
          </a:p>
        </p:txBody>
      </p:sp>
      <p:sp>
        <p:nvSpPr>
          <p:cNvPr id="10" name="Text 7"/>
          <p:cNvSpPr txBox="1"/>
          <p:nvPr/>
        </p:nvSpPr>
        <p:spPr>
          <a:xfrm>
            <a:off x="2697480" y="3493008"/>
            <a:ext cx="1691640" cy="384048"/>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Free end A, fixed wall B</a:t>
            </a:r>
            <a:endParaRPr lang="en-US" sz="1100" dirty="0"/>
          </a:p>
        </p:txBody>
      </p:sp>
      <p:sp>
        <p:nvSpPr>
          <p:cNvPr id="11" name="Shape 8"/>
          <p:cNvSpPr/>
          <p:nvPr/>
        </p:nvSpPr>
        <p:spPr>
          <a:xfrm>
            <a:off x="4663440" y="3017520"/>
            <a:ext cx="1965960" cy="91440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2" name="Text 9"/>
          <p:cNvSpPr txBox="1"/>
          <p:nvPr/>
        </p:nvSpPr>
        <p:spPr>
          <a:xfrm>
            <a:off x="4800600" y="3072384"/>
            <a:ext cx="1691640" cy="45720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12 → 18 kN/m</a:t>
            </a:r>
            <a:endParaRPr lang="en-US" sz="1700" dirty="0"/>
          </a:p>
        </p:txBody>
      </p:sp>
      <p:sp>
        <p:nvSpPr>
          <p:cNvPr id="13" name="Text 10"/>
          <p:cNvSpPr txBox="1"/>
          <p:nvPr/>
        </p:nvSpPr>
        <p:spPr>
          <a:xfrm>
            <a:off x="4800600" y="3493008"/>
            <a:ext cx="1691640" cy="384048"/>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Trapezoidal load, A to B</a:t>
            </a:r>
            <a:endParaRPr lang="en-US" sz="1100" dirty="0"/>
          </a:p>
        </p:txBody>
      </p:sp>
      <p:sp>
        <p:nvSpPr>
          <p:cNvPr id="14" name="Shape 11"/>
          <p:cNvSpPr/>
          <p:nvPr/>
        </p:nvSpPr>
        <p:spPr>
          <a:xfrm>
            <a:off x="6766560" y="3017520"/>
            <a:ext cx="1920240" cy="91440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5" name="Text 12"/>
          <p:cNvSpPr txBox="1"/>
          <p:nvPr/>
        </p:nvSpPr>
        <p:spPr>
          <a:xfrm>
            <a:off x="6903720" y="3072384"/>
            <a:ext cx="1645920" cy="45720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I-section</a:t>
            </a:r>
            <a:endParaRPr lang="en-US" sz="1700" dirty="0"/>
          </a:p>
        </p:txBody>
      </p:sp>
      <p:sp>
        <p:nvSpPr>
          <p:cNvPr id="16" name="Text 13"/>
          <p:cNvSpPr txBox="1"/>
          <p:nvPr/>
        </p:nvSpPr>
        <p:spPr>
          <a:xfrm>
            <a:off x="6903720" y="3493008"/>
            <a:ext cx="1645920" cy="384048"/>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Flanges 250×20, web t = 20 mm</a:t>
            </a:r>
            <a:endParaRPr lang="en-US" sz="1100" dirty="0"/>
          </a:p>
        </p:txBody>
      </p:sp>
      <p:sp>
        <p:nvSpPr>
          <p:cNvPr id="17" name="Shape 14"/>
          <p:cNvSpPr/>
          <p:nvPr/>
        </p:nvSpPr>
        <p:spPr>
          <a:xfrm>
            <a:off x="457200" y="4206240"/>
            <a:ext cx="3931920" cy="365760"/>
          </a:xfrm>
          <a:prstGeom prst="roundRect">
            <a:avLst>
              <a:gd name="adj" fmla="val 37500"/>
            </a:avLst>
          </a:prstGeom>
          <a:solidFill>
            <a:srgbClr val="D9480F"/>
          </a:solidFill>
          <a:ln w="12700">
            <a:solidFill>
              <a:srgbClr val="D9480F"/>
            </a:solidFill>
            <a:prstDash val="solid"/>
          </a:ln>
        </p:spPr>
      </p:sp>
      <p:sp>
        <p:nvSpPr>
          <p:cNvPr id="18" name="Text 15"/>
          <p:cNvSpPr txBox="1"/>
          <p:nvPr/>
        </p:nvSpPr>
        <p:spPr>
          <a:xfrm>
            <a:off x="457200" y="4206240"/>
            <a:ext cx="39319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1: hand calculation</a:t>
            </a:r>
            <a:endParaRPr lang="en-US" sz="1300" dirty="0"/>
          </a:p>
        </p:txBody>
      </p:sp>
      <p:sp>
        <p:nvSpPr>
          <p:cNvPr id="19" name="Shape 16"/>
          <p:cNvSpPr/>
          <p:nvPr/>
        </p:nvSpPr>
        <p:spPr>
          <a:xfrm>
            <a:off x="4754880" y="4206240"/>
            <a:ext cx="3931920" cy="365760"/>
          </a:xfrm>
          <a:prstGeom prst="roundRect">
            <a:avLst>
              <a:gd name="adj" fmla="val 37500"/>
            </a:avLst>
          </a:prstGeom>
          <a:solidFill>
            <a:srgbClr val="1C6DD0"/>
          </a:solidFill>
          <a:ln w="12700">
            <a:solidFill>
              <a:srgbClr val="1C6DD0"/>
            </a:solidFill>
            <a:prstDash val="solid"/>
          </a:ln>
        </p:spPr>
      </p:sp>
      <p:sp>
        <p:nvSpPr>
          <p:cNvPr id="20" name="Text 17"/>
          <p:cNvSpPr txBox="1"/>
          <p:nvPr/>
        </p:nvSpPr>
        <p:spPr>
          <a:xfrm>
            <a:off x="4754880" y="4206240"/>
            <a:ext cx="39319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2: ANSYS static structural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Handwritten: section property</a:t>
            </a:r>
            <a:endParaRPr lang="en-US" sz="2600" dirty="0"/>
          </a:p>
        </p:txBody>
      </p:sp>
      <p:sp>
        <p:nvSpPr>
          <p:cNvPr id="3" name="Shape 1"/>
          <p:cNvSpPr/>
          <p:nvPr/>
        </p:nvSpPr>
        <p:spPr>
          <a:xfrm>
            <a:off x="457200" y="914400"/>
            <a:ext cx="1280160" cy="256032"/>
          </a:xfrm>
          <a:prstGeom prst="roundRect">
            <a:avLst>
              <a:gd name="adj" fmla="val 53571"/>
            </a:avLst>
          </a:prstGeom>
          <a:solidFill>
            <a:srgbClr val="D9480F"/>
          </a:solidFill>
          <a:ln w="12700">
            <a:solidFill>
              <a:srgbClr val="D9480F"/>
            </a:solidFill>
            <a:prstDash val="solid"/>
          </a:ln>
        </p:spPr>
      </p:sp>
      <p:sp>
        <p:nvSpPr>
          <p:cNvPr id="4" name="Text 2"/>
          <p:cNvSpPr txBox="1"/>
          <p:nvPr/>
        </p:nvSpPr>
        <p:spPr>
          <a:xfrm>
            <a:off x="457200" y="914400"/>
            <a:ext cx="12801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pic>
        <p:nvPicPr>
          <p:cNvPr id="5" name="Image 0" descr="img/hw_section.png"/>
          <p:cNvPicPr>
            <a:picLocks noChangeAspect="1"/>
          </p:cNvPicPr>
          <p:nvPr/>
        </p:nvPicPr>
        <p:blipFill>
          <a:blip r:embed="rId3"/>
          <a:stretch>
            <a:fillRect/>
          </a:stretch>
        </p:blipFill>
        <p:spPr>
          <a:xfrm>
            <a:off x="457200" y="1353112"/>
            <a:ext cx="8229600" cy="1957216"/>
          </a:xfrm>
          <a:prstGeom prst="rect">
            <a:avLst/>
          </a:prstGeom>
        </p:spPr>
      </p:pic>
      <p:sp>
        <p:nvSpPr>
          <p:cNvPr id="6" name="Shape 3"/>
          <p:cNvSpPr/>
          <p:nvPr/>
        </p:nvSpPr>
        <p:spPr>
          <a:xfrm>
            <a:off x="457200" y="1353112"/>
            <a:ext cx="8229600" cy="1957216"/>
          </a:xfrm>
          <a:prstGeom prst="rect">
            <a:avLst/>
          </a:prstGeom>
          <a:solidFill>
            <a:srgbClr val="FFFFFF">
              <a:alpha val="0"/>
            </a:srgbClr>
          </a:solidFill>
          <a:ln w="9525">
            <a:solidFill>
              <a:srgbClr val="C9CFD6"/>
            </a:solidFill>
            <a:prstDash val="solid"/>
          </a:ln>
        </p:spPr>
      </p:sp>
      <p:sp>
        <p:nvSpPr>
          <p:cNvPr id="7" name="Shape 4"/>
          <p:cNvSpPr/>
          <p:nvPr/>
        </p:nvSpPr>
        <p:spPr>
          <a:xfrm>
            <a:off x="457200" y="3611880"/>
            <a:ext cx="260604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8" name="Text 5"/>
          <p:cNvSpPr txBox="1"/>
          <p:nvPr/>
        </p:nvSpPr>
        <p:spPr>
          <a:xfrm>
            <a:off x="594360" y="3666744"/>
            <a:ext cx="2331720" cy="50292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Web: 4.50×10⁷ mm⁴</a:t>
            </a:r>
            <a:endParaRPr lang="en-US" sz="1700" dirty="0"/>
          </a:p>
        </p:txBody>
      </p:sp>
      <p:sp>
        <p:nvSpPr>
          <p:cNvPr id="9" name="Text 6"/>
          <p:cNvSpPr txBox="1"/>
          <p:nvPr/>
        </p:nvSpPr>
        <p:spPr>
          <a:xfrm>
            <a:off x="594360" y="4134917"/>
            <a:ext cx="233172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20 × 300 mm, bh³/12</a:t>
            </a:r>
            <a:endParaRPr lang="en-US" sz="1100" dirty="0"/>
          </a:p>
        </p:txBody>
      </p:sp>
      <p:sp>
        <p:nvSpPr>
          <p:cNvPr id="10" name="Shape 7"/>
          <p:cNvSpPr/>
          <p:nvPr/>
        </p:nvSpPr>
        <p:spPr>
          <a:xfrm>
            <a:off x="3291840" y="3611880"/>
            <a:ext cx="260604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1" name="Text 8"/>
          <p:cNvSpPr txBox="1"/>
          <p:nvPr/>
        </p:nvSpPr>
        <p:spPr>
          <a:xfrm>
            <a:off x="3429000" y="3666744"/>
            <a:ext cx="2331720" cy="50292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Flanges: 2.56×10⁸ mm⁴</a:t>
            </a:r>
            <a:endParaRPr lang="en-US" sz="1700" dirty="0"/>
          </a:p>
        </p:txBody>
      </p:sp>
      <p:sp>
        <p:nvSpPr>
          <p:cNvPr id="12" name="Text 9"/>
          <p:cNvSpPr txBox="1"/>
          <p:nvPr/>
        </p:nvSpPr>
        <p:spPr>
          <a:xfrm>
            <a:off x="3429000" y="4134917"/>
            <a:ext cx="233172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250 × 20 mm each, centroid 160 mm from N.A.</a:t>
            </a:r>
            <a:endParaRPr lang="en-US" sz="1100" dirty="0"/>
          </a:p>
        </p:txBody>
      </p:sp>
      <p:sp>
        <p:nvSpPr>
          <p:cNvPr id="13" name="Shape 10"/>
          <p:cNvSpPr/>
          <p:nvPr/>
        </p:nvSpPr>
        <p:spPr>
          <a:xfrm>
            <a:off x="6126480" y="3611880"/>
            <a:ext cx="256032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4" name="Text 11"/>
          <p:cNvSpPr txBox="1"/>
          <p:nvPr/>
        </p:nvSpPr>
        <p:spPr>
          <a:xfrm>
            <a:off x="6263640" y="3666744"/>
            <a:ext cx="2286000" cy="502920"/>
          </a:xfrm>
          <a:prstGeom prst="rect">
            <a:avLst/>
          </a:prstGeom>
          <a:noFill/>
          <a:ln/>
        </p:spPr>
        <p:txBody>
          <a:bodyPr wrap="square" lIns="0" tIns="0" rIns="0" bIns="0" rtlCol="0" anchor="ctr"/>
          <a:lstStyle/>
          <a:p>
            <a:pPr marL="0" indent="0">
              <a:buNone/>
            </a:pPr>
            <a:r>
              <a:rPr lang="en-US" sz="1700" b="1" dirty="0">
                <a:solidFill>
                  <a:srgbClr val="D9480F"/>
                </a:solidFill>
                <a:latin typeface="Cambria" pitchFamily="34" charset="0"/>
                <a:ea typeface="Cambria" pitchFamily="34" charset="-122"/>
                <a:cs typeface="Cambria" pitchFamily="34" charset="-120"/>
              </a:rPr>
              <a:t>Izz = 3.0133×10⁻⁴ m⁴</a:t>
            </a:r>
            <a:endParaRPr lang="en-US" sz="1700" dirty="0"/>
          </a:p>
        </p:txBody>
      </p:sp>
      <p:sp>
        <p:nvSpPr>
          <p:cNvPr id="15" name="Text 12"/>
          <p:cNvSpPr txBox="1"/>
          <p:nvPr/>
        </p:nvSpPr>
        <p:spPr>
          <a:xfrm>
            <a:off x="6263640" y="4134917"/>
            <a:ext cx="228600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Parallel-axis theorem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Handwritten: loads, shear and bending moment</a:t>
            </a:r>
            <a:endParaRPr lang="en-US" sz="2600" dirty="0"/>
          </a:p>
        </p:txBody>
      </p:sp>
      <p:sp>
        <p:nvSpPr>
          <p:cNvPr id="3" name="Shape 1"/>
          <p:cNvSpPr/>
          <p:nvPr/>
        </p:nvSpPr>
        <p:spPr>
          <a:xfrm>
            <a:off x="457200" y="914400"/>
            <a:ext cx="1280160" cy="256032"/>
          </a:xfrm>
          <a:prstGeom prst="roundRect">
            <a:avLst>
              <a:gd name="adj" fmla="val 53571"/>
            </a:avLst>
          </a:prstGeom>
          <a:solidFill>
            <a:srgbClr val="D9480F"/>
          </a:solidFill>
          <a:ln w="12700">
            <a:solidFill>
              <a:srgbClr val="D9480F"/>
            </a:solidFill>
            <a:prstDash val="solid"/>
          </a:ln>
        </p:spPr>
      </p:sp>
      <p:sp>
        <p:nvSpPr>
          <p:cNvPr id="4" name="Text 2"/>
          <p:cNvSpPr txBox="1"/>
          <p:nvPr/>
        </p:nvSpPr>
        <p:spPr>
          <a:xfrm>
            <a:off x="457200" y="914400"/>
            <a:ext cx="12801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pic>
        <p:nvPicPr>
          <p:cNvPr id="5" name="Image 0" descr="img/hw_fbd.png"/>
          <p:cNvPicPr>
            <a:picLocks noChangeAspect="1"/>
          </p:cNvPicPr>
          <p:nvPr/>
        </p:nvPicPr>
        <p:blipFill>
          <a:blip r:embed="rId3"/>
          <a:stretch>
            <a:fillRect/>
          </a:stretch>
        </p:blipFill>
        <p:spPr>
          <a:xfrm>
            <a:off x="487926" y="1261872"/>
            <a:ext cx="4876308" cy="3520440"/>
          </a:xfrm>
          <a:prstGeom prst="rect">
            <a:avLst/>
          </a:prstGeom>
        </p:spPr>
      </p:pic>
      <p:sp>
        <p:nvSpPr>
          <p:cNvPr id="6" name="Shape 3"/>
          <p:cNvSpPr/>
          <p:nvPr/>
        </p:nvSpPr>
        <p:spPr>
          <a:xfrm>
            <a:off x="487926" y="1261872"/>
            <a:ext cx="4876308" cy="3520440"/>
          </a:xfrm>
          <a:prstGeom prst="rect">
            <a:avLst/>
          </a:prstGeom>
          <a:solidFill>
            <a:srgbClr val="FFFFFF">
              <a:alpha val="0"/>
            </a:srgbClr>
          </a:solidFill>
          <a:ln w="9525">
            <a:solidFill>
              <a:srgbClr val="C9CFD6"/>
            </a:solidFill>
            <a:prstDash val="solid"/>
          </a:ln>
        </p:spPr>
      </p:sp>
      <p:sp>
        <p:nvSpPr>
          <p:cNvPr id="7" name="Shape 4"/>
          <p:cNvSpPr/>
          <p:nvPr/>
        </p:nvSpPr>
        <p:spPr>
          <a:xfrm>
            <a:off x="5577840" y="1261872"/>
            <a:ext cx="310896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8" name="Text 5"/>
          <p:cNvSpPr txBox="1"/>
          <p:nvPr/>
        </p:nvSpPr>
        <p:spPr>
          <a:xfrm>
            <a:off x="5715000" y="1316736"/>
            <a:ext cx="2834640" cy="502920"/>
          </a:xfrm>
          <a:prstGeom prst="rect">
            <a:avLst/>
          </a:prstGeom>
          <a:noFill/>
          <a:ln/>
        </p:spPr>
        <p:txBody>
          <a:bodyPr wrap="square" lIns="0" tIns="0" rIns="0" bIns="0" rtlCol="0" anchor="ctr"/>
          <a:lstStyle/>
          <a:p>
            <a:pPr marL="0" indent="0">
              <a:buNone/>
            </a:pPr>
            <a:r>
              <a:rPr lang="en-US" sz="1800" b="1" dirty="0">
                <a:solidFill>
                  <a:srgbClr val="1B2430"/>
                </a:solidFill>
                <a:latin typeface="Cambria" pitchFamily="34" charset="0"/>
                <a:ea typeface="Cambria" pitchFamily="34" charset="-122"/>
                <a:cs typeface="Cambria" pitchFamily="34" charset="-120"/>
              </a:rPr>
              <a:t>Vmax = 45 kN</a:t>
            </a:r>
            <a:endParaRPr lang="en-US" sz="1800" dirty="0"/>
          </a:p>
        </p:txBody>
      </p:sp>
      <p:sp>
        <p:nvSpPr>
          <p:cNvPr id="9" name="Text 6"/>
          <p:cNvSpPr txBox="1"/>
          <p:nvPr/>
        </p:nvSpPr>
        <p:spPr>
          <a:xfrm>
            <a:off x="5715000" y="1784909"/>
            <a:ext cx="283464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F1 + F2 = 36 kN + 9 kN at the wall</a:t>
            </a:r>
            <a:endParaRPr lang="en-US" sz="1100" dirty="0"/>
          </a:p>
        </p:txBody>
      </p:sp>
      <p:sp>
        <p:nvSpPr>
          <p:cNvPr id="10" name="Shape 7"/>
          <p:cNvSpPr/>
          <p:nvPr/>
        </p:nvSpPr>
        <p:spPr>
          <a:xfrm>
            <a:off x="5577840" y="2404872"/>
            <a:ext cx="310896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1" name="Text 8"/>
          <p:cNvSpPr txBox="1"/>
          <p:nvPr/>
        </p:nvSpPr>
        <p:spPr>
          <a:xfrm>
            <a:off x="5715000" y="2459736"/>
            <a:ext cx="2834640" cy="502920"/>
          </a:xfrm>
          <a:prstGeom prst="rect">
            <a:avLst/>
          </a:prstGeom>
          <a:noFill/>
          <a:ln/>
        </p:spPr>
        <p:txBody>
          <a:bodyPr wrap="square" lIns="0" tIns="0" rIns="0" bIns="0" rtlCol="0" anchor="ctr"/>
          <a:lstStyle/>
          <a:p>
            <a:pPr marL="0" indent="0">
              <a:buNone/>
            </a:pPr>
            <a:r>
              <a:rPr lang="en-US" sz="1800" b="1" dirty="0">
                <a:solidFill>
                  <a:srgbClr val="1B2430"/>
                </a:solidFill>
                <a:latin typeface="Cambria" pitchFamily="34" charset="0"/>
                <a:ea typeface="Cambria" pitchFamily="34" charset="-122"/>
                <a:cs typeface="Cambria" pitchFamily="34" charset="-120"/>
              </a:rPr>
              <a:t>F1 = 36, F2 = 9 kN</a:t>
            </a:r>
            <a:endParaRPr lang="en-US" sz="1800" dirty="0"/>
          </a:p>
        </p:txBody>
      </p:sp>
      <p:sp>
        <p:nvSpPr>
          <p:cNvPr id="12" name="Text 9"/>
          <p:cNvSpPr txBox="1"/>
          <p:nvPr/>
        </p:nvSpPr>
        <p:spPr>
          <a:xfrm>
            <a:off x="5715000" y="2927909"/>
            <a:ext cx="283464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Uniform 12 kN/m and triangle 0 → 6 kN/m</a:t>
            </a:r>
            <a:endParaRPr lang="en-US" sz="1100" dirty="0"/>
          </a:p>
        </p:txBody>
      </p:sp>
      <p:sp>
        <p:nvSpPr>
          <p:cNvPr id="13" name="Shape 10"/>
          <p:cNvSpPr/>
          <p:nvPr/>
        </p:nvSpPr>
        <p:spPr>
          <a:xfrm>
            <a:off x="5577840" y="3547872"/>
            <a:ext cx="3108960" cy="10058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4" name="Text 11"/>
          <p:cNvSpPr txBox="1"/>
          <p:nvPr/>
        </p:nvSpPr>
        <p:spPr>
          <a:xfrm>
            <a:off x="5715000" y="3602736"/>
            <a:ext cx="2834640" cy="502920"/>
          </a:xfrm>
          <a:prstGeom prst="rect">
            <a:avLst/>
          </a:prstGeom>
          <a:noFill/>
          <a:ln/>
        </p:spPr>
        <p:txBody>
          <a:bodyPr wrap="square" lIns="0" tIns="0" rIns="0" bIns="0" rtlCol="0" anchor="ctr"/>
          <a:lstStyle/>
          <a:p>
            <a:pPr marL="0" indent="0">
              <a:buNone/>
            </a:pPr>
            <a:r>
              <a:rPr lang="en-US" sz="1800" b="1" dirty="0">
                <a:solidFill>
                  <a:srgbClr val="D9480F"/>
                </a:solidFill>
                <a:latin typeface="Cambria" pitchFamily="34" charset="0"/>
                <a:ea typeface="Cambria" pitchFamily="34" charset="-122"/>
                <a:cs typeface="Cambria" pitchFamily="34" charset="-120"/>
              </a:rPr>
              <a:t>MB = 72 kN·m</a:t>
            </a:r>
            <a:endParaRPr lang="en-US" sz="1800" dirty="0"/>
          </a:p>
        </p:txBody>
      </p:sp>
      <p:sp>
        <p:nvSpPr>
          <p:cNvPr id="15" name="Text 12"/>
          <p:cNvSpPr txBox="1"/>
          <p:nvPr/>
        </p:nvSpPr>
        <p:spPr>
          <a:xfrm>
            <a:off x="5715000" y="4070909"/>
            <a:ext cx="2834640" cy="42245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As written: 36 × 1.5 + 9 × 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Handwritten: stresses at points B and C</a:t>
            </a:r>
            <a:endParaRPr lang="en-US" sz="2600" dirty="0"/>
          </a:p>
        </p:txBody>
      </p:sp>
      <p:sp>
        <p:nvSpPr>
          <p:cNvPr id="3" name="Shape 1"/>
          <p:cNvSpPr/>
          <p:nvPr/>
        </p:nvSpPr>
        <p:spPr>
          <a:xfrm>
            <a:off x="457200" y="914400"/>
            <a:ext cx="1280160" cy="256032"/>
          </a:xfrm>
          <a:prstGeom prst="roundRect">
            <a:avLst>
              <a:gd name="adj" fmla="val 53571"/>
            </a:avLst>
          </a:prstGeom>
          <a:solidFill>
            <a:srgbClr val="D9480F"/>
          </a:solidFill>
          <a:ln w="12700">
            <a:solidFill>
              <a:srgbClr val="D9480F"/>
            </a:solidFill>
            <a:prstDash val="solid"/>
          </a:ln>
        </p:spPr>
      </p:sp>
      <p:sp>
        <p:nvSpPr>
          <p:cNvPr id="4" name="Text 2"/>
          <p:cNvSpPr txBox="1"/>
          <p:nvPr/>
        </p:nvSpPr>
        <p:spPr>
          <a:xfrm>
            <a:off x="457200" y="914400"/>
            <a:ext cx="12801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pic>
        <p:nvPicPr>
          <p:cNvPr id="5" name="Image 0" descr="img/hw_shearB.png"/>
          <p:cNvPicPr>
            <a:picLocks noChangeAspect="1"/>
          </p:cNvPicPr>
          <p:nvPr/>
        </p:nvPicPr>
        <p:blipFill>
          <a:blip r:embed="rId3"/>
          <a:stretch>
            <a:fillRect/>
          </a:stretch>
        </p:blipFill>
        <p:spPr>
          <a:xfrm>
            <a:off x="480762" y="1261872"/>
            <a:ext cx="3976237" cy="2651760"/>
          </a:xfrm>
          <a:prstGeom prst="rect">
            <a:avLst/>
          </a:prstGeom>
        </p:spPr>
      </p:pic>
      <p:sp>
        <p:nvSpPr>
          <p:cNvPr id="6" name="Shape 3"/>
          <p:cNvSpPr/>
          <p:nvPr/>
        </p:nvSpPr>
        <p:spPr>
          <a:xfrm>
            <a:off x="480762" y="1261872"/>
            <a:ext cx="3976237" cy="2651760"/>
          </a:xfrm>
          <a:prstGeom prst="rect">
            <a:avLst/>
          </a:prstGeom>
          <a:solidFill>
            <a:srgbClr val="FFFFFF">
              <a:alpha val="0"/>
            </a:srgbClr>
          </a:solidFill>
          <a:ln w="9525">
            <a:solidFill>
              <a:srgbClr val="C9CFD6"/>
            </a:solidFill>
            <a:prstDash val="solid"/>
          </a:ln>
        </p:spPr>
      </p:sp>
      <p:pic>
        <p:nvPicPr>
          <p:cNvPr id="7" name="Image 1" descr="img/hw_shearC.png"/>
          <p:cNvPicPr>
            <a:picLocks noChangeAspect="1"/>
          </p:cNvPicPr>
          <p:nvPr/>
        </p:nvPicPr>
        <p:blipFill>
          <a:blip r:embed="rId4"/>
          <a:stretch>
            <a:fillRect/>
          </a:stretch>
        </p:blipFill>
        <p:spPr>
          <a:xfrm>
            <a:off x="4707820" y="1261872"/>
            <a:ext cx="3934601" cy="2651760"/>
          </a:xfrm>
          <a:prstGeom prst="rect">
            <a:avLst/>
          </a:prstGeom>
        </p:spPr>
      </p:pic>
      <p:sp>
        <p:nvSpPr>
          <p:cNvPr id="8" name="Shape 4"/>
          <p:cNvSpPr/>
          <p:nvPr/>
        </p:nvSpPr>
        <p:spPr>
          <a:xfrm>
            <a:off x="4707820" y="1261872"/>
            <a:ext cx="3934601" cy="2651760"/>
          </a:xfrm>
          <a:prstGeom prst="rect">
            <a:avLst/>
          </a:prstGeom>
          <a:solidFill>
            <a:srgbClr val="FFFFFF">
              <a:alpha val="0"/>
            </a:srgbClr>
          </a:solidFill>
          <a:ln w="9525">
            <a:solidFill>
              <a:srgbClr val="C9CFD6"/>
            </a:solidFill>
            <a:prstDash val="solid"/>
          </a:ln>
        </p:spPr>
      </p:sp>
      <p:sp>
        <p:nvSpPr>
          <p:cNvPr id="9" name="Shape 5"/>
          <p:cNvSpPr/>
          <p:nvPr/>
        </p:nvSpPr>
        <p:spPr>
          <a:xfrm>
            <a:off x="457200" y="4023360"/>
            <a:ext cx="4023360" cy="82296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0" name="Text 6"/>
          <p:cNvSpPr txBox="1"/>
          <p:nvPr/>
        </p:nvSpPr>
        <p:spPr>
          <a:xfrm>
            <a:off x="594360" y="4078224"/>
            <a:ext cx="3749040" cy="411480"/>
          </a:xfrm>
          <a:prstGeom prst="rect">
            <a:avLst/>
          </a:prstGeom>
          <a:noFill/>
          <a:ln/>
        </p:spPr>
        <p:txBody>
          <a:bodyPr wrap="square" lIns="0" tIns="0" rIns="0" bIns="0" rtlCol="0" anchor="ctr"/>
          <a:lstStyle/>
          <a:p>
            <a:pPr marL="0" indent="0">
              <a:buNone/>
            </a:pPr>
            <a:r>
              <a:rPr lang="en-US" sz="1700" b="1" dirty="0">
                <a:solidFill>
                  <a:srgbClr val="D9480F"/>
                </a:solidFill>
                <a:latin typeface="Cambria" pitchFamily="34" charset="0"/>
                <a:ea typeface="Cambria" pitchFamily="34" charset="-122"/>
                <a:cs typeface="Cambria" pitchFamily="34" charset="-120"/>
              </a:rPr>
              <a:t>σB = 40.62 MPa, τB = 0</a:t>
            </a:r>
            <a:endParaRPr lang="en-US" sz="1700" dirty="0"/>
          </a:p>
        </p:txBody>
      </p:sp>
      <p:sp>
        <p:nvSpPr>
          <p:cNvPr id="11" name="Text 7"/>
          <p:cNvSpPr txBox="1"/>
          <p:nvPr/>
        </p:nvSpPr>
        <p:spPr>
          <a:xfrm>
            <a:off x="594360" y="4451299"/>
            <a:ext cx="3749040" cy="34564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Top fibre at the wall, y = 170 mm (bending only)</a:t>
            </a:r>
            <a:endParaRPr lang="en-US" sz="1100" dirty="0"/>
          </a:p>
        </p:txBody>
      </p:sp>
      <p:sp>
        <p:nvSpPr>
          <p:cNvPr id="12" name="Shape 8"/>
          <p:cNvSpPr/>
          <p:nvPr/>
        </p:nvSpPr>
        <p:spPr>
          <a:xfrm>
            <a:off x="4663440" y="4023360"/>
            <a:ext cx="4023360" cy="82296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3" name="Text 9"/>
          <p:cNvSpPr txBox="1"/>
          <p:nvPr/>
        </p:nvSpPr>
        <p:spPr>
          <a:xfrm>
            <a:off x="4800600" y="4078224"/>
            <a:ext cx="3749040"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σC = 0, τC = 7.65 MPa</a:t>
            </a:r>
            <a:endParaRPr lang="en-US" sz="1700" dirty="0"/>
          </a:p>
        </p:txBody>
      </p:sp>
      <p:sp>
        <p:nvSpPr>
          <p:cNvPr id="14" name="Text 10"/>
          <p:cNvSpPr txBox="1"/>
          <p:nvPr/>
        </p:nvSpPr>
        <p:spPr>
          <a:xfrm>
            <a:off x="4800600" y="4451299"/>
            <a:ext cx="3749040" cy="345643"/>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Neutral axis, Q = 1.025×10⁶ mm³ → B is critical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Handwritten: failure theories and safety factor</a:t>
            </a:r>
            <a:endParaRPr lang="en-US" sz="2600" dirty="0"/>
          </a:p>
        </p:txBody>
      </p:sp>
      <p:sp>
        <p:nvSpPr>
          <p:cNvPr id="3" name="Shape 1"/>
          <p:cNvSpPr/>
          <p:nvPr/>
        </p:nvSpPr>
        <p:spPr>
          <a:xfrm>
            <a:off x="457200" y="914400"/>
            <a:ext cx="1280160" cy="256032"/>
          </a:xfrm>
          <a:prstGeom prst="roundRect">
            <a:avLst>
              <a:gd name="adj" fmla="val 53571"/>
            </a:avLst>
          </a:prstGeom>
          <a:solidFill>
            <a:srgbClr val="D9480F"/>
          </a:solidFill>
          <a:ln w="12700">
            <a:solidFill>
              <a:srgbClr val="D9480F"/>
            </a:solidFill>
            <a:prstDash val="solid"/>
          </a:ln>
        </p:spPr>
      </p:sp>
      <p:sp>
        <p:nvSpPr>
          <p:cNvPr id="4" name="Text 2"/>
          <p:cNvSpPr txBox="1"/>
          <p:nvPr/>
        </p:nvSpPr>
        <p:spPr>
          <a:xfrm>
            <a:off x="457200" y="914400"/>
            <a:ext cx="12801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pic>
        <p:nvPicPr>
          <p:cNvPr id="5" name="Image 0" descr="img/hw_fos.png"/>
          <p:cNvPicPr>
            <a:picLocks noChangeAspect="1"/>
          </p:cNvPicPr>
          <p:nvPr/>
        </p:nvPicPr>
        <p:blipFill>
          <a:blip r:embed="rId3"/>
          <a:stretch>
            <a:fillRect/>
          </a:stretch>
        </p:blipFill>
        <p:spPr>
          <a:xfrm>
            <a:off x="457200" y="1285571"/>
            <a:ext cx="4114800" cy="3473042"/>
          </a:xfrm>
          <a:prstGeom prst="rect">
            <a:avLst/>
          </a:prstGeom>
        </p:spPr>
      </p:pic>
      <p:sp>
        <p:nvSpPr>
          <p:cNvPr id="6" name="Shape 3"/>
          <p:cNvSpPr/>
          <p:nvPr/>
        </p:nvSpPr>
        <p:spPr>
          <a:xfrm>
            <a:off x="457200" y="1285571"/>
            <a:ext cx="4114800" cy="3473042"/>
          </a:xfrm>
          <a:prstGeom prst="rect">
            <a:avLst/>
          </a:prstGeom>
          <a:solidFill>
            <a:srgbClr val="FFFFFF">
              <a:alpha val="0"/>
            </a:srgbClr>
          </a:solidFill>
          <a:ln w="9525">
            <a:solidFill>
              <a:srgbClr val="C9CFD6"/>
            </a:solidFill>
            <a:prstDash val="solid"/>
          </a:ln>
        </p:spPr>
      </p:sp>
      <p:sp>
        <p:nvSpPr>
          <p:cNvPr id="7" name="Shape 4"/>
          <p:cNvSpPr/>
          <p:nvPr/>
        </p:nvSpPr>
        <p:spPr>
          <a:xfrm>
            <a:off x="4846320" y="1261872"/>
            <a:ext cx="3840480" cy="105156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8" name="Text 5"/>
          <p:cNvSpPr txBox="1"/>
          <p:nvPr/>
        </p:nvSpPr>
        <p:spPr>
          <a:xfrm>
            <a:off x="4983480" y="1316736"/>
            <a:ext cx="3566160" cy="525780"/>
          </a:xfrm>
          <a:prstGeom prst="rect">
            <a:avLst/>
          </a:prstGeom>
          <a:noFill/>
          <a:ln/>
        </p:spPr>
        <p:txBody>
          <a:bodyPr wrap="square" lIns="0" tIns="0" rIns="0" bIns="0" rtlCol="0" anchor="ctr"/>
          <a:lstStyle/>
          <a:p>
            <a:pPr marL="0" indent="0">
              <a:buNone/>
            </a:pPr>
            <a:r>
              <a:rPr lang="en-US" sz="2800" b="1" dirty="0">
                <a:solidFill>
                  <a:srgbClr val="D9480F"/>
                </a:solidFill>
                <a:latin typeface="Cambria" pitchFamily="34" charset="0"/>
                <a:ea typeface="Cambria" pitchFamily="34" charset="-122"/>
                <a:cs typeface="Cambria" pitchFamily="34" charset="-120"/>
              </a:rPr>
              <a:t>n = 6.15</a:t>
            </a:r>
            <a:endParaRPr lang="en-US" sz="2800" dirty="0"/>
          </a:p>
        </p:txBody>
      </p:sp>
      <p:sp>
        <p:nvSpPr>
          <p:cNvPr id="9" name="Text 6"/>
          <p:cNvSpPr txBox="1"/>
          <p:nvPr/>
        </p:nvSpPr>
        <p:spPr>
          <a:xfrm>
            <a:off x="4983480" y="1808683"/>
            <a:ext cx="3566160" cy="441655"/>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von Mises: σvm = 40.62 MPa, n = 250 / 40.62</a:t>
            </a:r>
            <a:endParaRPr lang="en-US" sz="1100" dirty="0"/>
          </a:p>
        </p:txBody>
      </p:sp>
      <p:sp>
        <p:nvSpPr>
          <p:cNvPr id="10" name="Shape 7"/>
          <p:cNvSpPr/>
          <p:nvPr/>
        </p:nvSpPr>
        <p:spPr>
          <a:xfrm>
            <a:off x="4846320" y="2450592"/>
            <a:ext cx="3840480" cy="105156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1" name="Text 8"/>
          <p:cNvSpPr txBox="1"/>
          <p:nvPr/>
        </p:nvSpPr>
        <p:spPr>
          <a:xfrm>
            <a:off x="4983480" y="2505456"/>
            <a:ext cx="3566160" cy="525780"/>
          </a:xfrm>
          <a:prstGeom prst="rect">
            <a:avLst/>
          </a:prstGeom>
          <a:noFill/>
          <a:ln/>
        </p:spPr>
        <p:txBody>
          <a:bodyPr wrap="square" lIns="0" tIns="0" rIns="0" bIns="0" rtlCol="0" anchor="ctr"/>
          <a:lstStyle/>
          <a:p>
            <a:pPr marL="0" indent="0">
              <a:buNone/>
            </a:pPr>
            <a:r>
              <a:rPr lang="en-US" sz="2800" b="1" dirty="0">
                <a:solidFill>
                  <a:srgbClr val="D9480F"/>
                </a:solidFill>
                <a:latin typeface="Cambria" pitchFamily="34" charset="0"/>
                <a:ea typeface="Cambria" pitchFamily="34" charset="-122"/>
                <a:cs typeface="Cambria" pitchFamily="34" charset="-120"/>
              </a:rPr>
              <a:t>n = 6.15</a:t>
            </a:r>
            <a:endParaRPr lang="en-US" sz="2800" dirty="0"/>
          </a:p>
        </p:txBody>
      </p:sp>
      <p:sp>
        <p:nvSpPr>
          <p:cNvPr id="12" name="Text 9"/>
          <p:cNvSpPr txBox="1"/>
          <p:nvPr/>
        </p:nvSpPr>
        <p:spPr>
          <a:xfrm>
            <a:off x="4983480" y="2997403"/>
            <a:ext cx="3566160" cy="441655"/>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Tresca: τmax = 20.31 MPa, n = 250 / (2 × 20.31)</a:t>
            </a:r>
            <a:endParaRPr lang="en-US" sz="1100" dirty="0"/>
          </a:p>
        </p:txBody>
      </p:sp>
      <p:sp>
        <p:nvSpPr>
          <p:cNvPr id="13" name="Text 10"/>
          <p:cNvSpPr txBox="1"/>
          <p:nvPr/>
        </p:nvSpPr>
        <p:spPr>
          <a:xfrm>
            <a:off x="4846320" y="3703320"/>
            <a:ext cx="3840480" cy="73152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Uniaxial stress state (σ2 = σ3 = 0), so both theories give the same result.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ANSYS: model setup and boundary conditions</a:t>
            </a:r>
            <a:endParaRPr lang="en-US" sz="2600" dirty="0"/>
          </a:p>
        </p:txBody>
      </p:sp>
      <p:sp>
        <p:nvSpPr>
          <p:cNvPr id="3" name="Shape 1"/>
          <p:cNvSpPr/>
          <p:nvPr/>
        </p:nvSpPr>
        <p:spPr>
          <a:xfrm>
            <a:off x="457200" y="914400"/>
            <a:ext cx="914400" cy="256032"/>
          </a:xfrm>
          <a:prstGeom prst="roundRect">
            <a:avLst>
              <a:gd name="adj" fmla="val 53571"/>
            </a:avLst>
          </a:prstGeom>
          <a:solidFill>
            <a:srgbClr val="1C6DD0"/>
          </a:solidFill>
          <a:ln w="12700">
            <a:solidFill>
              <a:srgbClr val="1C6DD0"/>
            </a:solidFill>
            <a:prstDash val="solid"/>
          </a:ln>
        </p:spPr>
      </p:sp>
      <p:sp>
        <p:nvSpPr>
          <p:cNvPr id="4" name="Text 2"/>
          <p:cNvSpPr txBox="1"/>
          <p:nvPr/>
        </p:nvSpPr>
        <p:spPr>
          <a:xfrm>
            <a:off x="457200" y="914400"/>
            <a:ext cx="9144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ANSYS</a:t>
            </a:r>
            <a:endParaRPr lang="en-US" sz="1100" dirty="0"/>
          </a:p>
        </p:txBody>
      </p:sp>
      <p:pic>
        <p:nvPicPr>
          <p:cNvPr id="5" name="Image 0" descr="img/an_fixed.png"/>
          <p:cNvPicPr>
            <a:picLocks noChangeAspect="1"/>
          </p:cNvPicPr>
          <p:nvPr/>
        </p:nvPicPr>
        <p:blipFill>
          <a:blip r:embed="rId3"/>
          <a:stretch>
            <a:fillRect/>
          </a:stretch>
        </p:blipFill>
        <p:spPr>
          <a:xfrm>
            <a:off x="457200" y="1261872"/>
            <a:ext cx="4023360" cy="2011680"/>
          </a:xfrm>
          <a:prstGeom prst="rect">
            <a:avLst/>
          </a:prstGeom>
        </p:spPr>
      </p:pic>
      <p:sp>
        <p:nvSpPr>
          <p:cNvPr id="6" name="Shape 3"/>
          <p:cNvSpPr/>
          <p:nvPr/>
        </p:nvSpPr>
        <p:spPr>
          <a:xfrm>
            <a:off x="457200" y="1261872"/>
            <a:ext cx="4023360" cy="2011680"/>
          </a:xfrm>
          <a:prstGeom prst="rect">
            <a:avLst/>
          </a:prstGeom>
          <a:solidFill>
            <a:srgbClr val="FFFFFF">
              <a:alpha val="0"/>
            </a:srgbClr>
          </a:solidFill>
          <a:ln w="9525">
            <a:solidFill>
              <a:srgbClr val="C9CFD6"/>
            </a:solidFill>
            <a:prstDash val="solid"/>
          </a:ln>
        </p:spPr>
      </p:sp>
      <p:pic>
        <p:nvPicPr>
          <p:cNvPr id="7" name="Image 1" descr="img/an_pressure.png"/>
          <p:cNvPicPr>
            <a:picLocks noChangeAspect="1"/>
          </p:cNvPicPr>
          <p:nvPr/>
        </p:nvPicPr>
        <p:blipFill>
          <a:blip r:embed="rId4"/>
          <a:stretch>
            <a:fillRect/>
          </a:stretch>
        </p:blipFill>
        <p:spPr>
          <a:xfrm>
            <a:off x="4845244" y="1261872"/>
            <a:ext cx="3659752" cy="2468880"/>
          </a:xfrm>
          <a:prstGeom prst="rect">
            <a:avLst/>
          </a:prstGeom>
        </p:spPr>
      </p:pic>
      <p:sp>
        <p:nvSpPr>
          <p:cNvPr id="8" name="Shape 4"/>
          <p:cNvSpPr/>
          <p:nvPr/>
        </p:nvSpPr>
        <p:spPr>
          <a:xfrm>
            <a:off x="4845244" y="1261872"/>
            <a:ext cx="3659752" cy="2468880"/>
          </a:xfrm>
          <a:prstGeom prst="rect">
            <a:avLst/>
          </a:prstGeom>
          <a:solidFill>
            <a:srgbClr val="FFFFFF">
              <a:alpha val="0"/>
            </a:srgbClr>
          </a:solidFill>
          <a:ln w="9525">
            <a:solidFill>
              <a:srgbClr val="C9CFD6"/>
            </a:solidFill>
            <a:prstDash val="solid"/>
          </a:ln>
        </p:spPr>
      </p:sp>
      <p:sp>
        <p:nvSpPr>
          <p:cNvPr id="9" name="Text 5"/>
          <p:cNvSpPr txBox="1"/>
          <p:nvPr/>
        </p:nvSpPr>
        <p:spPr>
          <a:xfrm>
            <a:off x="457200" y="3474720"/>
            <a:ext cx="4023360"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B2430"/>
                </a:solidFill>
                <a:latin typeface="Calibri" pitchFamily="34" charset="0"/>
                <a:ea typeface="Calibri" pitchFamily="34" charset="-122"/>
                <a:cs typeface="Calibri" pitchFamily="34" charset="-120"/>
              </a:rPr>
              <a:t>Fixed support on the end face at wall B</a:t>
            </a:r>
            <a:endParaRPr lang="en-US" sz="1300" dirty="0"/>
          </a:p>
          <a:p>
            <a:pPr marL="342900" indent="-342900">
              <a:spcAft>
                <a:spcPts val="500"/>
              </a:spcAft>
              <a:buSzPct val="100000"/>
              <a:buChar char="•"/>
            </a:pPr>
            <a:r>
              <a:rPr lang="en-US" sz="1300" dirty="0">
                <a:solidFill>
                  <a:srgbClr val="1B2430"/>
                </a:solidFill>
                <a:latin typeface="Calibri" pitchFamily="34" charset="0"/>
                <a:ea typeface="Calibri" pitchFamily="34" charset="-122"/>
                <a:cs typeface="Calibri" pitchFamily="34" charset="-120"/>
              </a:rPr>
              <a:t>Static structural, single load step (1 s)</a:t>
            </a:r>
            <a:endParaRPr lang="en-US" sz="1300" dirty="0"/>
          </a:p>
          <a:p>
            <a:pPr marL="342900" indent="-342900">
              <a:spcAft>
                <a:spcPts val="500"/>
              </a:spcAft>
              <a:buSzPct val="100000"/>
              <a:buChar char="•"/>
            </a:pPr>
            <a:r>
              <a:rPr lang="en-US" sz="1300" dirty="0">
                <a:solidFill>
                  <a:srgbClr val="1B2430"/>
                </a:solidFill>
                <a:latin typeface="Calibri" pitchFamily="34" charset="0"/>
                <a:ea typeface="Calibri" pitchFamily="34" charset="-122"/>
                <a:cs typeface="Calibri" pitchFamily="34" charset="-120"/>
              </a:rPr>
              <a:t>Results: deformation, von Mises, max shear, max principal, Stress Tool safety factor</a:t>
            </a:r>
            <a:endParaRPr lang="en-US" sz="1300" dirty="0"/>
          </a:p>
        </p:txBody>
      </p:sp>
      <p:sp>
        <p:nvSpPr>
          <p:cNvPr id="10" name="Text 6"/>
          <p:cNvSpPr txBox="1"/>
          <p:nvPr/>
        </p:nvSpPr>
        <p:spPr>
          <a:xfrm>
            <a:off x="4663440" y="3840480"/>
            <a:ext cx="4023360" cy="91440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Pressure on the top face (250 mm wide), tabular in z: 48 kPa at the free end to 72 kPa at the wall. Multiplied by 0.25 m, that is 12 → 18 kN/m.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ANSYS results</a:t>
            </a:r>
            <a:endParaRPr lang="en-US" sz="2600" dirty="0"/>
          </a:p>
        </p:txBody>
      </p:sp>
      <p:pic>
        <p:nvPicPr>
          <p:cNvPr id="3" name="Image 0" descr="img/an_defl.png"/>
          <p:cNvPicPr>
            <a:picLocks noChangeAspect="1"/>
          </p:cNvPicPr>
          <p:nvPr/>
        </p:nvPicPr>
        <p:blipFill>
          <a:blip r:embed="rId3"/>
          <a:stretch>
            <a:fillRect/>
          </a:stretch>
        </p:blipFill>
        <p:spPr>
          <a:xfrm>
            <a:off x="685800" y="1097280"/>
            <a:ext cx="3657600" cy="1828800"/>
          </a:xfrm>
          <a:prstGeom prst="rect">
            <a:avLst/>
          </a:prstGeom>
        </p:spPr>
      </p:pic>
      <p:sp>
        <p:nvSpPr>
          <p:cNvPr id="4" name="Shape 1"/>
          <p:cNvSpPr/>
          <p:nvPr/>
        </p:nvSpPr>
        <p:spPr>
          <a:xfrm>
            <a:off x="685800" y="1097280"/>
            <a:ext cx="3657600" cy="1828800"/>
          </a:xfrm>
          <a:prstGeom prst="rect">
            <a:avLst/>
          </a:prstGeom>
          <a:solidFill>
            <a:srgbClr val="FFFFFF">
              <a:alpha val="0"/>
            </a:srgbClr>
          </a:solidFill>
          <a:ln w="9525">
            <a:solidFill>
              <a:srgbClr val="C9CFD6"/>
            </a:solidFill>
            <a:prstDash val="solid"/>
          </a:ln>
        </p:spPr>
      </p:sp>
      <p:sp>
        <p:nvSpPr>
          <p:cNvPr id="5" name="Shape 2"/>
          <p:cNvSpPr/>
          <p:nvPr/>
        </p:nvSpPr>
        <p:spPr>
          <a:xfrm>
            <a:off x="2377440" y="2596896"/>
            <a:ext cx="1874520" cy="256032"/>
          </a:xfrm>
          <a:prstGeom prst="roundRect">
            <a:avLst>
              <a:gd name="adj" fmla="val 53571"/>
            </a:avLst>
          </a:prstGeom>
          <a:solidFill>
            <a:srgbClr val="1C6DD0"/>
          </a:solidFill>
          <a:ln w="12700">
            <a:solidFill>
              <a:srgbClr val="1C6DD0"/>
            </a:solidFill>
            <a:prstDash val="solid"/>
          </a:ln>
        </p:spPr>
      </p:sp>
      <p:sp>
        <p:nvSpPr>
          <p:cNvPr id="6" name="Text 3"/>
          <p:cNvSpPr txBox="1"/>
          <p:nvPr/>
        </p:nvSpPr>
        <p:spPr>
          <a:xfrm>
            <a:off x="2377440" y="2596896"/>
            <a:ext cx="18745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Max deflection 2.42 mm</a:t>
            </a:r>
            <a:endParaRPr lang="en-US" sz="1050" dirty="0"/>
          </a:p>
        </p:txBody>
      </p:sp>
      <p:pic>
        <p:nvPicPr>
          <p:cNvPr id="7" name="Image 1" descr="img/an_vm.png"/>
          <p:cNvPicPr>
            <a:picLocks noChangeAspect="1"/>
          </p:cNvPicPr>
          <p:nvPr/>
        </p:nvPicPr>
        <p:blipFill>
          <a:blip r:embed="rId4"/>
          <a:stretch>
            <a:fillRect/>
          </a:stretch>
        </p:blipFill>
        <p:spPr>
          <a:xfrm>
            <a:off x="4800600" y="1097280"/>
            <a:ext cx="3657600" cy="1828800"/>
          </a:xfrm>
          <a:prstGeom prst="rect">
            <a:avLst/>
          </a:prstGeom>
        </p:spPr>
      </p:pic>
      <p:sp>
        <p:nvSpPr>
          <p:cNvPr id="8" name="Shape 4"/>
          <p:cNvSpPr/>
          <p:nvPr/>
        </p:nvSpPr>
        <p:spPr>
          <a:xfrm>
            <a:off x="4800600" y="1097280"/>
            <a:ext cx="3657600" cy="1828800"/>
          </a:xfrm>
          <a:prstGeom prst="rect">
            <a:avLst/>
          </a:prstGeom>
          <a:solidFill>
            <a:srgbClr val="FFFFFF">
              <a:alpha val="0"/>
            </a:srgbClr>
          </a:solidFill>
          <a:ln w="9525">
            <a:solidFill>
              <a:srgbClr val="C9CFD6"/>
            </a:solidFill>
            <a:prstDash val="solid"/>
          </a:ln>
        </p:spPr>
      </p:sp>
      <p:sp>
        <p:nvSpPr>
          <p:cNvPr id="9" name="Shape 5"/>
          <p:cNvSpPr/>
          <p:nvPr/>
        </p:nvSpPr>
        <p:spPr>
          <a:xfrm>
            <a:off x="6492240" y="2596896"/>
            <a:ext cx="1874520" cy="256032"/>
          </a:xfrm>
          <a:prstGeom prst="roundRect">
            <a:avLst>
              <a:gd name="adj" fmla="val 53571"/>
            </a:avLst>
          </a:prstGeom>
          <a:solidFill>
            <a:srgbClr val="1C6DD0"/>
          </a:solidFill>
          <a:ln w="12700">
            <a:solidFill>
              <a:srgbClr val="1C6DD0"/>
            </a:solidFill>
            <a:prstDash val="solid"/>
          </a:ln>
        </p:spPr>
      </p:sp>
      <p:sp>
        <p:nvSpPr>
          <p:cNvPr id="10" name="Text 6"/>
          <p:cNvSpPr txBox="1"/>
          <p:nvPr/>
        </p:nvSpPr>
        <p:spPr>
          <a:xfrm>
            <a:off x="6492240" y="2596896"/>
            <a:ext cx="18745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Max von Mises 40.58 MPa</a:t>
            </a:r>
            <a:endParaRPr lang="en-US" sz="1050" dirty="0"/>
          </a:p>
        </p:txBody>
      </p:sp>
      <p:pic>
        <p:nvPicPr>
          <p:cNvPr id="11" name="Image 2" descr="img/an_shear.png"/>
          <p:cNvPicPr>
            <a:picLocks noChangeAspect="1"/>
          </p:cNvPicPr>
          <p:nvPr/>
        </p:nvPicPr>
        <p:blipFill>
          <a:blip r:embed="rId5"/>
          <a:stretch>
            <a:fillRect/>
          </a:stretch>
        </p:blipFill>
        <p:spPr>
          <a:xfrm>
            <a:off x="685800" y="3154680"/>
            <a:ext cx="3657600" cy="1828800"/>
          </a:xfrm>
          <a:prstGeom prst="rect">
            <a:avLst/>
          </a:prstGeom>
        </p:spPr>
      </p:pic>
      <p:sp>
        <p:nvSpPr>
          <p:cNvPr id="12" name="Shape 7"/>
          <p:cNvSpPr/>
          <p:nvPr/>
        </p:nvSpPr>
        <p:spPr>
          <a:xfrm>
            <a:off x="685800" y="3154680"/>
            <a:ext cx="3657600" cy="1828800"/>
          </a:xfrm>
          <a:prstGeom prst="rect">
            <a:avLst/>
          </a:prstGeom>
          <a:solidFill>
            <a:srgbClr val="FFFFFF">
              <a:alpha val="0"/>
            </a:srgbClr>
          </a:solidFill>
          <a:ln w="9525">
            <a:solidFill>
              <a:srgbClr val="C9CFD6"/>
            </a:solidFill>
            <a:prstDash val="solid"/>
          </a:ln>
        </p:spPr>
      </p:sp>
      <p:sp>
        <p:nvSpPr>
          <p:cNvPr id="13" name="Shape 8"/>
          <p:cNvSpPr/>
          <p:nvPr/>
        </p:nvSpPr>
        <p:spPr>
          <a:xfrm>
            <a:off x="2377440" y="4654296"/>
            <a:ext cx="1874520" cy="256032"/>
          </a:xfrm>
          <a:prstGeom prst="roundRect">
            <a:avLst>
              <a:gd name="adj" fmla="val 53571"/>
            </a:avLst>
          </a:prstGeom>
          <a:solidFill>
            <a:srgbClr val="1C6DD0"/>
          </a:solidFill>
          <a:ln w="12700">
            <a:solidFill>
              <a:srgbClr val="1C6DD0"/>
            </a:solidFill>
            <a:prstDash val="solid"/>
          </a:ln>
        </p:spPr>
      </p:sp>
      <p:sp>
        <p:nvSpPr>
          <p:cNvPr id="14" name="Text 9"/>
          <p:cNvSpPr txBox="1"/>
          <p:nvPr/>
        </p:nvSpPr>
        <p:spPr>
          <a:xfrm>
            <a:off x="2377440" y="4654296"/>
            <a:ext cx="18745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Max shear 21.14 MPa</a:t>
            </a:r>
            <a:endParaRPr lang="en-US" sz="1050" dirty="0"/>
          </a:p>
        </p:txBody>
      </p:sp>
      <p:pic>
        <p:nvPicPr>
          <p:cNvPr id="15" name="Image 3" descr="img/an_sf.png"/>
          <p:cNvPicPr>
            <a:picLocks noChangeAspect="1"/>
          </p:cNvPicPr>
          <p:nvPr/>
        </p:nvPicPr>
        <p:blipFill>
          <a:blip r:embed="rId6"/>
          <a:stretch>
            <a:fillRect/>
          </a:stretch>
        </p:blipFill>
        <p:spPr>
          <a:xfrm>
            <a:off x="4800600" y="3154680"/>
            <a:ext cx="3657600" cy="1828800"/>
          </a:xfrm>
          <a:prstGeom prst="rect">
            <a:avLst/>
          </a:prstGeom>
        </p:spPr>
      </p:pic>
      <p:sp>
        <p:nvSpPr>
          <p:cNvPr id="16" name="Shape 10"/>
          <p:cNvSpPr/>
          <p:nvPr/>
        </p:nvSpPr>
        <p:spPr>
          <a:xfrm>
            <a:off x="4800600" y="3154680"/>
            <a:ext cx="3657600" cy="1828800"/>
          </a:xfrm>
          <a:prstGeom prst="rect">
            <a:avLst/>
          </a:prstGeom>
          <a:solidFill>
            <a:srgbClr val="FFFFFF">
              <a:alpha val="0"/>
            </a:srgbClr>
          </a:solidFill>
          <a:ln w="9525">
            <a:solidFill>
              <a:srgbClr val="C9CFD6"/>
            </a:solidFill>
            <a:prstDash val="solid"/>
          </a:ln>
        </p:spPr>
      </p:sp>
      <p:sp>
        <p:nvSpPr>
          <p:cNvPr id="17" name="Shape 11"/>
          <p:cNvSpPr/>
          <p:nvPr/>
        </p:nvSpPr>
        <p:spPr>
          <a:xfrm>
            <a:off x="6492240" y="4654296"/>
            <a:ext cx="1874520" cy="256032"/>
          </a:xfrm>
          <a:prstGeom prst="roundRect">
            <a:avLst>
              <a:gd name="adj" fmla="val 53571"/>
            </a:avLst>
          </a:prstGeom>
          <a:solidFill>
            <a:srgbClr val="1C6DD0"/>
          </a:solidFill>
          <a:ln w="12700">
            <a:solidFill>
              <a:srgbClr val="1C6DD0"/>
            </a:solidFill>
            <a:prstDash val="solid"/>
          </a:ln>
        </p:spPr>
      </p:sp>
      <p:sp>
        <p:nvSpPr>
          <p:cNvPr id="18" name="Text 12"/>
          <p:cNvSpPr txBox="1"/>
          <p:nvPr/>
        </p:nvSpPr>
        <p:spPr>
          <a:xfrm>
            <a:off x="6492240" y="4654296"/>
            <a:ext cx="18745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Min safety factor 6.16</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Side by side: safety factor</a:t>
            </a:r>
            <a:endParaRPr lang="en-US" sz="2600" dirty="0"/>
          </a:p>
        </p:txBody>
      </p:sp>
      <p:sp>
        <p:nvSpPr>
          <p:cNvPr id="3" name="Shape 1"/>
          <p:cNvSpPr/>
          <p:nvPr/>
        </p:nvSpPr>
        <p:spPr>
          <a:xfrm>
            <a:off x="457200" y="914400"/>
            <a:ext cx="1463040" cy="274320"/>
          </a:xfrm>
          <a:prstGeom prst="roundRect">
            <a:avLst>
              <a:gd name="adj" fmla="val 50000"/>
            </a:avLst>
          </a:prstGeom>
          <a:solidFill>
            <a:srgbClr val="D9480F"/>
          </a:solidFill>
          <a:ln w="12700">
            <a:solidFill>
              <a:srgbClr val="D9480F"/>
            </a:solidFill>
            <a:prstDash val="solid"/>
          </a:ln>
        </p:spPr>
      </p:sp>
      <p:sp>
        <p:nvSpPr>
          <p:cNvPr id="4" name="Text 2"/>
          <p:cNvSpPr txBox="1"/>
          <p:nvPr/>
        </p:nvSpPr>
        <p:spPr>
          <a:xfrm>
            <a:off x="457200" y="914400"/>
            <a:ext cx="14630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HANDWRITTEN</a:t>
            </a:r>
            <a:endParaRPr lang="en-US" sz="1100" dirty="0"/>
          </a:p>
        </p:txBody>
      </p:sp>
      <p:sp>
        <p:nvSpPr>
          <p:cNvPr id="5" name="Shape 3"/>
          <p:cNvSpPr/>
          <p:nvPr/>
        </p:nvSpPr>
        <p:spPr>
          <a:xfrm>
            <a:off x="4663440" y="914400"/>
            <a:ext cx="914400" cy="274320"/>
          </a:xfrm>
          <a:prstGeom prst="roundRect">
            <a:avLst>
              <a:gd name="adj" fmla="val 50000"/>
            </a:avLst>
          </a:prstGeom>
          <a:solidFill>
            <a:srgbClr val="1C6DD0"/>
          </a:solidFill>
          <a:ln w="12700">
            <a:solidFill>
              <a:srgbClr val="1C6DD0"/>
            </a:solidFill>
            <a:prstDash val="solid"/>
          </a:ln>
        </p:spPr>
      </p:sp>
      <p:sp>
        <p:nvSpPr>
          <p:cNvPr id="6" name="Text 4"/>
          <p:cNvSpPr txBox="1"/>
          <p:nvPr/>
        </p:nvSpPr>
        <p:spPr>
          <a:xfrm>
            <a:off x="4663440" y="914400"/>
            <a:ext cx="9144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ANSYS</a:t>
            </a:r>
            <a:endParaRPr lang="en-US" sz="1100" dirty="0"/>
          </a:p>
        </p:txBody>
      </p:sp>
      <p:pic>
        <p:nvPicPr>
          <p:cNvPr id="7" name="Image 0" descr="img/hw_fos.png"/>
          <p:cNvPicPr>
            <a:picLocks noChangeAspect="1"/>
          </p:cNvPicPr>
          <p:nvPr/>
        </p:nvPicPr>
        <p:blipFill>
          <a:blip r:embed="rId3"/>
          <a:stretch>
            <a:fillRect/>
          </a:stretch>
        </p:blipFill>
        <p:spPr>
          <a:xfrm>
            <a:off x="457200" y="1342448"/>
            <a:ext cx="4023360" cy="3395863"/>
          </a:xfrm>
          <a:prstGeom prst="rect">
            <a:avLst/>
          </a:prstGeom>
        </p:spPr>
      </p:pic>
      <p:sp>
        <p:nvSpPr>
          <p:cNvPr id="8" name="Shape 5"/>
          <p:cNvSpPr/>
          <p:nvPr/>
        </p:nvSpPr>
        <p:spPr>
          <a:xfrm>
            <a:off x="457200" y="1342448"/>
            <a:ext cx="4023360" cy="3395863"/>
          </a:xfrm>
          <a:prstGeom prst="rect">
            <a:avLst/>
          </a:prstGeom>
          <a:solidFill>
            <a:srgbClr val="FFFFFF">
              <a:alpha val="0"/>
            </a:srgbClr>
          </a:solidFill>
          <a:ln w="9525">
            <a:solidFill>
              <a:srgbClr val="C9CFD6"/>
            </a:solidFill>
            <a:prstDash val="solid"/>
          </a:ln>
        </p:spPr>
      </p:sp>
      <p:pic>
        <p:nvPicPr>
          <p:cNvPr id="9" name="Image 1" descr="img/an_sf_full.png"/>
          <p:cNvPicPr>
            <a:picLocks noChangeAspect="1"/>
          </p:cNvPicPr>
          <p:nvPr/>
        </p:nvPicPr>
        <p:blipFill>
          <a:blip r:embed="rId4"/>
          <a:stretch>
            <a:fillRect/>
          </a:stretch>
        </p:blipFill>
        <p:spPr>
          <a:xfrm>
            <a:off x="4811358" y="1280160"/>
            <a:ext cx="3727525" cy="2514600"/>
          </a:xfrm>
          <a:prstGeom prst="rect">
            <a:avLst/>
          </a:prstGeom>
        </p:spPr>
      </p:pic>
      <p:sp>
        <p:nvSpPr>
          <p:cNvPr id="10" name="Shape 6"/>
          <p:cNvSpPr/>
          <p:nvPr/>
        </p:nvSpPr>
        <p:spPr>
          <a:xfrm>
            <a:off x="4811358" y="1280160"/>
            <a:ext cx="3727525" cy="2514600"/>
          </a:xfrm>
          <a:prstGeom prst="rect">
            <a:avLst/>
          </a:prstGeom>
          <a:solidFill>
            <a:srgbClr val="FFFFFF">
              <a:alpha val="0"/>
            </a:srgbClr>
          </a:solidFill>
          <a:ln w="9525">
            <a:solidFill>
              <a:srgbClr val="C9CFD6"/>
            </a:solidFill>
            <a:prstDash val="solid"/>
          </a:ln>
        </p:spPr>
      </p:sp>
      <p:sp>
        <p:nvSpPr>
          <p:cNvPr id="11" name="Shape 7"/>
          <p:cNvSpPr/>
          <p:nvPr/>
        </p:nvSpPr>
        <p:spPr>
          <a:xfrm>
            <a:off x="4663440" y="3931920"/>
            <a:ext cx="123444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2" name="Text 8"/>
          <p:cNvSpPr txBox="1"/>
          <p:nvPr/>
        </p:nvSpPr>
        <p:spPr>
          <a:xfrm>
            <a:off x="4800600" y="3986784"/>
            <a:ext cx="960120" cy="434340"/>
          </a:xfrm>
          <a:prstGeom prst="rect">
            <a:avLst/>
          </a:prstGeom>
          <a:noFill/>
          <a:ln/>
        </p:spPr>
        <p:txBody>
          <a:bodyPr wrap="square" lIns="0" tIns="0" rIns="0" bIns="0" rtlCol="0" anchor="ctr"/>
          <a:lstStyle/>
          <a:p>
            <a:pPr marL="0" indent="0">
              <a:buNone/>
            </a:pPr>
            <a:r>
              <a:rPr lang="en-US" sz="2200" b="1" dirty="0">
                <a:solidFill>
                  <a:srgbClr val="D9480F"/>
                </a:solidFill>
                <a:latin typeface="Cambria" pitchFamily="34" charset="0"/>
                <a:ea typeface="Cambria" pitchFamily="34" charset="-122"/>
                <a:cs typeface="Cambria" pitchFamily="34" charset="-120"/>
              </a:rPr>
              <a:t>6.15</a:t>
            </a:r>
            <a:endParaRPr lang="en-US" sz="2200" dirty="0"/>
          </a:p>
        </p:txBody>
      </p:sp>
      <p:sp>
        <p:nvSpPr>
          <p:cNvPr id="13" name="Text 9"/>
          <p:cNvSpPr txBox="1"/>
          <p:nvPr/>
        </p:nvSpPr>
        <p:spPr>
          <a:xfrm>
            <a:off x="4800600" y="4383634"/>
            <a:ext cx="96012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Hand</a:t>
            </a:r>
            <a:endParaRPr lang="en-US" sz="1100" dirty="0"/>
          </a:p>
        </p:txBody>
      </p:sp>
      <p:sp>
        <p:nvSpPr>
          <p:cNvPr id="14" name="Shape 10"/>
          <p:cNvSpPr/>
          <p:nvPr/>
        </p:nvSpPr>
        <p:spPr>
          <a:xfrm>
            <a:off x="6035040" y="3931920"/>
            <a:ext cx="123444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5" name="Text 11"/>
          <p:cNvSpPr txBox="1"/>
          <p:nvPr/>
        </p:nvSpPr>
        <p:spPr>
          <a:xfrm>
            <a:off x="6172200" y="3986784"/>
            <a:ext cx="960120" cy="434340"/>
          </a:xfrm>
          <a:prstGeom prst="rect">
            <a:avLst/>
          </a:prstGeom>
          <a:noFill/>
          <a:ln/>
        </p:spPr>
        <p:txBody>
          <a:bodyPr wrap="square" lIns="0" tIns="0" rIns="0" bIns="0" rtlCol="0" anchor="ctr"/>
          <a:lstStyle/>
          <a:p>
            <a:pPr marL="0" indent="0">
              <a:buNone/>
            </a:pPr>
            <a:r>
              <a:rPr lang="en-US" sz="2200" b="1" dirty="0">
                <a:solidFill>
                  <a:srgbClr val="1C6DD0"/>
                </a:solidFill>
                <a:latin typeface="Cambria" pitchFamily="34" charset="0"/>
                <a:ea typeface="Cambria" pitchFamily="34" charset="-122"/>
                <a:cs typeface="Cambria" pitchFamily="34" charset="-120"/>
              </a:rPr>
              <a:t>6.16</a:t>
            </a:r>
            <a:endParaRPr lang="en-US" sz="2200" dirty="0"/>
          </a:p>
        </p:txBody>
      </p:sp>
      <p:sp>
        <p:nvSpPr>
          <p:cNvPr id="16" name="Text 12"/>
          <p:cNvSpPr txBox="1"/>
          <p:nvPr/>
        </p:nvSpPr>
        <p:spPr>
          <a:xfrm>
            <a:off x="6172200" y="4383634"/>
            <a:ext cx="96012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ANSYS</a:t>
            </a:r>
            <a:endParaRPr lang="en-US" sz="1100" dirty="0"/>
          </a:p>
        </p:txBody>
      </p:sp>
      <p:sp>
        <p:nvSpPr>
          <p:cNvPr id="17" name="Shape 13"/>
          <p:cNvSpPr/>
          <p:nvPr/>
        </p:nvSpPr>
        <p:spPr>
          <a:xfrm>
            <a:off x="7406640" y="3931920"/>
            <a:ext cx="128016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8" name="Text 14"/>
          <p:cNvSpPr txBox="1"/>
          <p:nvPr/>
        </p:nvSpPr>
        <p:spPr>
          <a:xfrm>
            <a:off x="7543800" y="3986784"/>
            <a:ext cx="1005840" cy="434340"/>
          </a:xfrm>
          <a:prstGeom prst="rect">
            <a:avLst/>
          </a:prstGeom>
          <a:noFill/>
          <a:ln/>
        </p:spPr>
        <p:txBody>
          <a:bodyPr wrap="square" lIns="0" tIns="0" rIns="0" bIns="0" rtlCol="0" anchor="ctr"/>
          <a:lstStyle/>
          <a:p>
            <a:pPr marL="0" indent="0">
              <a:buNone/>
            </a:pPr>
            <a:r>
              <a:rPr lang="en-US" sz="2200" b="1" dirty="0">
                <a:solidFill>
                  <a:srgbClr val="2B8A3E"/>
                </a:solidFill>
                <a:latin typeface="Cambria" pitchFamily="34" charset="0"/>
                <a:ea typeface="Cambria" pitchFamily="34" charset="-122"/>
                <a:cs typeface="Cambria" pitchFamily="34" charset="-120"/>
              </a:rPr>
              <a:t>Δ 0.2%</a:t>
            </a:r>
            <a:endParaRPr lang="en-US" sz="2200" dirty="0"/>
          </a:p>
        </p:txBody>
      </p:sp>
      <p:sp>
        <p:nvSpPr>
          <p:cNvPr id="19" name="Text 15"/>
          <p:cNvSpPr txBox="1"/>
          <p:nvPr/>
        </p:nvSpPr>
        <p:spPr>
          <a:xfrm>
            <a:off x="7543800" y="4383634"/>
            <a:ext cx="100584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Difference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Numerical comparison</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852928"/>
        </p:xfrm>
        <a:graphic>
          <a:graphicData uri="http://schemas.openxmlformats.org/drawingml/2006/table">
            <a:tbl>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Quantity</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1B243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Handwritten</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D9480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ANSYS</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1C6DD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Difference</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2B8A3E"/>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B2430"/>
                          </a:solidFill>
                          <a:latin typeface="Calibri" pitchFamily="34" charset="0"/>
                          <a:ea typeface="Calibri" pitchFamily="34" charset="-122"/>
                          <a:cs typeface="Calibri" pitchFamily="34" charset="-120"/>
                        </a:rPr>
                        <a:t>Critical location</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Top fibre at wall B</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Top edge at fixed end</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Same</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B2430"/>
                          </a:solidFill>
                          <a:latin typeface="Calibri" pitchFamily="34" charset="0"/>
                          <a:ea typeface="Calibri" pitchFamily="34" charset="-122"/>
                          <a:cs typeface="Calibri" pitchFamily="34" charset="-120"/>
                        </a:rPr>
                        <a:t>Max normal / von Mises stress</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40.62 MPa</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40.58 MPa</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B8A3E"/>
                          </a:solidFill>
                          <a:latin typeface="Calibri" pitchFamily="34" charset="0"/>
                          <a:ea typeface="Calibri" pitchFamily="34" charset="-122"/>
                          <a:cs typeface="Calibri" pitchFamily="34" charset="-120"/>
                        </a:rPr>
                        <a:t>0.1 %</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B2430"/>
                          </a:solidFill>
                          <a:latin typeface="Calibri" pitchFamily="34" charset="0"/>
                          <a:ea typeface="Calibri" pitchFamily="34" charset="-122"/>
                          <a:cs typeface="Calibri" pitchFamily="34" charset="-120"/>
                        </a:rPr>
                        <a:t>Max shear stress</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20.31 MPa (σ/2)</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21.14 MPa</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B8A3E"/>
                          </a:solidFill>
                          <a:latin typeface="Calibri" pitchFamily="34" charset="0"/>
                          <a:ea typeface="Calibri" pitchFamily="34" charset="-122"/>
                          <a:cs typeface="Calibri" pitchFamily="34" charset="-120"/>
                        </a:rPr>
                        <a:t>3.9 %</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B2430"/>
                          </a:solidFill>
                          <a:latin typeface="Calibri" pitchFamily="34" charset="0"/>
                          <a:ea typeface="Calibri" pitchFamily="34" charset="-122"/>
                          <a:cs typeface="Calibri" pitchFamily="34" charset="-120"/>
                        </a:rPr>
                        <a:t>Safety factor (σyt = 250 MPa)</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6.15</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6.16</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B8A3E"/>
                          </a:solidFill>
                          <a:latin typeface="Calibri" pitchFamily="34" charset="0"/>
                          <a:ea typeface="Calibri" pitchFamily="34" charset="-122"/>
                          <a:cs typeface="Calibri" pitchFamily="34" charset="-120"/>
                        </a:rPr>
                        <a:t>0.2 %</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B2430"/>
                          </a:solidFill>
                          <a:latin typeface="Calibri" pitchFamily="34" charset="0"/>
                          <a:ea typeface="Calibri" pitchFamily="34" charset="-122"/>
                          <a:cs typeface="Calibri" pitchFamily="34" charset="-120"/>
                        </a:rPr>
                        <a:t>Max deflection</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not computed</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2.42 mm</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43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4206240"/>
            <a:ext cx="8229600" cy="457200"/>
          </a:xfrm>
          <a:prstGeom prst="rect">
            <a:avLst/>
          </a:prstGeom>
          <a:noFill/>
          <a:ln/>
        </p:spPr>
        <p:txBody>
          <a:bodyPr wrap="square" lIns="0" tIns="0" rIns="0" bIns="0"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Both methods agree: the beam is safe, with SF above 6 against yielding.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Check before presenting: moment-arm slip</a:t>
            </a:r>
            <a:endParaRPr lang="en-US" sz="2600" dirty="0"/>
          </a:p>
        </p:txBody>
      </p:sp>
      <p:sp>
        <p:nvSpPr>
          <p:cNvPr id="3" name="Text 1"/>
          <p:cNvSpPr txBox="1"/>
          <p:nvPr/>
        </p:nvSpPr>
        <p:spPr>
          <a:xfrm>
            <a:off x="457200" y="786384"/>
            <a:ext cx="8229600" cy="274320"/>
          </a:xfrm>
          <a:prstGeom prst="rect">
            <a:avLst/>
          </a:prstGeom>
          <a:noFill/>
          <a:ln/>
        </p:spPr>
        <p:txBody>
          <a:bodyPr wrap="square" lIns="0" tIns="0" rIns="0" bIns="0" rtlCol="0" anchor="ctr"/>
          <a:lstStyle/>
          <a:p>
            <a:pPr marL="0" indent="0">
              <a:buNone/>
            </a:pPr>
            <a:r>
              <a:rPr lang="en-US" sz="1300" dirty="0">
                <a:solidFill>
                  <a:srgbClr val="5B6573"/>
                </a:solidFill>
                <a:latin typeface="Calibri" pitchFamily="34" charset="0"/>
                <a:ea typeface="Calibri" pitchFamily="34" charset="-122"/>
                <a:cs typeface="Calibri" pitchFamily="34" charset="-120"/>
              </a:rPr>
              <a:t>Worth fixing in the hand calculation; also affects how the match with ANSYS is read</a:t>
            </a:r>
            <a:endParaRPr lang="en-US" sz="1300" dirty="0"/>
          </a:p>
        </p:txBody>
      </p:sp>
      <p:sp>
        <p:nvSpPr>
          <p:cNvPr id="4" name="Shape 2"/>
          <p:cNvSpPr/>
          <p:nvPr/>
        </p:nvSpPr>
        <p:spPr>
          <a:xfrm>
            <a:off x="457200" y="1234440"/>
            <a:ext cx="4114800" cy="352044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5" name="Text 3"/>
          <p:cNvSpPr txBox="1"/>
          <p:nvPr/>
        </p:nvSpPr>
        <p:spPr>
          <a:xfrm>
            <a:off x="640080" y="1371600"/>
            <a:ext cx="3749040" cy="3246120"/>
          </a:xfrm>
          <a:prstGeom prst="rect">
            <a:avLst/>
          </a:prstGeom>
          <a:noFill/>
          <a:ln/>
        </p:spPr>
        <p:txBody>
          <a:bodyPr wrap="square" lIns="0" tIns="0" rIns="0" bIns="0" rtlCol="0" anchor="t"/>
          <a:lstStyle/>
          <a:p>
            <a:pPr marL="0" indent="0">
              <a:spcAft>
                <a:spcPts val="900"/>
              </a:spcAft>
              <a:buNone/>
            </a:pPr>
            <a:r>
              <a:rPr lang="en-US" sz="1600" b="1" dirty="0">
                <a:solidFill>
                  <a:srgbClr val="D9480F"/>
                </a:solidFill>
                <a:latin typeface="Calibri" pitchFamily="34" charset="0"/>
                <a:ea typeface="Calibri" pitchFamily="34" charset="-122"/>
                <a:cs typeface="Calibri" pitchFamily="34" charset="-120"/>
              </a:rPr>
              <a:t>Hand calculation</a:t>
            </a:r>
            <a:endParaRPr lang="en-US" sz="1400" dirty="0"/>
          </a:p>
          <a:p>
            <a:pPr marL="342900" indent="-3429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Triangle load is 0 at A and 6 kN/m at wall B, so its 9 kN resultant acts at L/3 = 1 m from B, not 2 m.</a:t>
            </a:r>
            <a:endParaRPr lang="en-US" sz="1400" dirty="0"/>
          </a:p>
          <a:p>
            <a:pPr marL="342900" indent="-3429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Corrected: MB = 36×1.5 + 9×1 = 63 kN·m (not 72).</a:t>
            </a:r>
            <a:endParaRPr lang="en-US" sz="1400" dirty="0"/>
          </a:p>
          <a:p>
            <a:pPr marL="342900" indent="-3429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σB line shows ×120, but the result uses y = 170 mm. Rewrite as 170.</a:t>
            </a:r>
            <a:endParaRPr lang="en-US" sz="1400" dirty="0"/>
          </a:p>
          <a:p>
            <a:pPr marL="342900" indent="-342900">
              <a:spcAft>
                <a:spcPts val="900"/>
              </a:spcAft>
              <a:buSzPct val="100000"/>
              <a:buChar char="•"/>
            </a:pPr>
            <a:r>
              <a:rPr lang="en-US" sz="1400" dirty="0">
                <a:solidFill>
                  <a:srgbClr val="1B2430"/>
                </a:solidFill>
                <a:latin typeface="Calibri" pitchFamily="34" charset="0"/>
                <a:ea typeface="Calibri" pitchFamily="34" charset="-122"/>
                <a:cs typeface="Calibri" pitchFamily="34" charset="-120"/>
              </a:rPr>
              <a:t>Point B still governs: at the web-flange junction σ ≈ 31 MPa, τ ≈ 6 MPa, von Mises ≈ 33 MPa.</a:t>
            </a:r>
            <a:endParaRPr lang="en-US" sz="1400" dirty="0"/>
          </a:p>
        </p:txBody>
      </p:sp>
      <p:sp>
        <p:nvSpPr>
          <p:cNvPr id="6" name="Shape 4"/>
          <p:cNvSpPr/>
          <p:nvPr/>
        </p:nvSpPr>
        <p:spPr>
          <a:xfrm>
            <a:off x="4846320" y="1234440"/>
            <a:ext cx="384048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7" name="Text 5"/>
          <p:cNvSpPr txBox="1"/>
          <p:nvPr/>
        </p:nvSpPr>
        <p:spPr>
          <a:xfrm>
            <a:off x="4983480" y="1289304"/>
            <a:ext cx="3566160" cy="434340"/>
          </a:xfrm>
          <a:prstGeom prst="rect">
            <a:avLst/>
          </a:prstGeom>
          <a:noFill/>
          <a:ln/>
        </p:spPr>
        <p:txBody>
          <a:bodyPr wrap="square" lIns="0" tIns="0" rIns="0" bIns="0" rtlCol="0" anchor="ctr"/>
          <a:lstStyle/>
          <a:p>
            <a:pPr marL="0" indent="0">
              <a:buNone/>
            </a:pPr>
            <a:r>
              <a:rPr lang="en-US" sz="2000" b="1" dirty="0">
                <a:solidFill>
                  <a:srgbClr val="D9480F"/>
                </a:solidFill>
                <a:latin typeface="Cambria" pitchFamily="34" charset="0"/>
                <a:ea typeface="Cambria" pitchFamily="34" charset="-122"/>
                <a:cs typeface="Cambria" pitchFamily="34" charset="-120"/>
              </a:rPr>
              <a:t>σB = 35.5 MPa</a:t>
            </a:r>
            <a:endParaRPr lang="en-US" sz="2000" dirty="0"/>
          </a:p>
        </p:txBody>
      </p:sp>
      <p:sp>
        <p:nvSpPr>
          <p:cNvPr id="8" name="Text 6"/>
          <p:cNvSpPr txBox="1"/>
          <p:nvPr/>
        </p:nvSpPr>
        <p:spPr>
          <a:xfrm>
            <a:off x="4983480" y="1686154"/>
            <a:ext cx="356616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Corrected hand value (63 kN·m × 170 mm / Izz)</a:t>
            </a:r>
            <a:endParaRPr lang="en-US" sz="1100" dirty="0"/>
          </a:p>
        </p:txBody>
      </p:sp>
      <p:sp>
        <p:nvSpPr>
          <p:cNvPr id="9" name="Shape 7"/>
          <p:cNvSpPr/>
          <p:nvPr/>
        </p:nvSpPr>
        <p:spPr>
          <a:xfrm>
            <a:off x="4846320" y="2240280"/>
            <a:ext cx="384048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0" name="Text 8"/>
          <p:cNvSpPr txBox="1"/>
          <p:nvPr/>
        </p:nvSpPr>
        <p:spPr>
          <a:xfrm>
            <a:off x="4983480" y="2295144"/>
            <a:ext cx="3566160" cy="434340"/>
          </a:xfrm>
          <a:prstGeom prst="rect">
            <a:avLst/>
          </a:prstGeom>
          <a:noFill/>
          <a:ln/>
        </p:spPr>
        <p:txBody>
          <a:bodyPr wrap="square" lIns="0" tIns="0" rIns="0" bIns="0" rtlCol="0" anchor="ctr"/>
          <a:lstStyle/>
          <a:p>
            <a:pPr marL="0" indent="0">
              <a:buNone/>
            </a:pPr>
            <a:r>
              <a:rPr lang="en-US" sz="2000" b="1" dirty="0">
                <a:solidFill>
                  <a:srgbClr val="D9480F"/>
                </a:solidFill>
                <a:latin typeface="Cambria" pitchFamily="34" charset="0"/>
                <a:ea typeface="Cambria" pitchFamily="34" charset="-122"/>
                <a:cs typeface="Cambria" pitchFamily="34" charset="-120"/>
              </a:rPr>
              <a:t>n = 7.03</a:t>
            </a:r>
            <a:endParaRPr lang="en-US" sz="2000" dirty="0"/>
          </a:p>
        </p:txBody>
      </p:sp>
      <p:sp>
        <p:nvSpPr>
          <p:cNvPr id="11" name="Text 9"/>
          <p:cNvSpPr txBox="1"/>
          <p:nvPr/>
        </p:nvSpPr>
        <p:spPr>
          <a:xfrm>
            <a:off x="4983480" y="2691994"/>
            <a:ext cx="356616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Corrected hand safety factor</a:t>
            </a:r>
            <a:endParaRPr lang="en-US" sz="1100" dirty="0"/>
          </a:p>
        </p:txBody>
      </p:sp>
      <p:sp>
        <p:nvSpPr>
          <p:cNvPr id="12" name="Shape 10"/>
          <p:cNvSpPr/>
          <p:nvPr/>
        </p:nvSpPr>
        <p:spPr>
          <a:xfrm>
            <a:off x="4846320" y="3246120"/>
            <a:ext cx="3840480" cy="868680"/>
          </a:xfrm>
          <a:prstGeom prst="rect">
            <a:avLst/>
          </a:prstGeom>
          <a:solidFill>
            <a:srgbClr val="FFFFFF"/>
          </a:solidFill>
          <a:ln w="6350">
            <a:solidFill>
              <a:srgbClr val="E3E6EA"/>
            </a:solidFill>
            <a:prstDash val="solid"/>
          </a:ln>
          <a:effectLst>
            <a:outerShdw blurRad="76200" dist="25400" dir="5400000" algn="bl" rotWithShape="0">
              <a:srgbClr val="000000">
                <a:alpha val="12000"/>
              </a:srgbClr>
            </a:outerShdw>
          </a:effectLst>
        </p:spPr>
      </p:sp>
      <p:sp>
        <p:nvSpPr>
          <p:cNvPr id="13" name="Text 11"/>
          <p:cNvSpPr txBox="1"/>
          <p:nvPr/>
        </p:nvSpPr>
        <p:spPr>
          <a:xfrm>
            <a:off x="4983480" y="3300984"/>
            <a:ext cx="3566160" cy="434340"/>
          </a:xfrm>
          <a:prstGeom prst="rect">
            <a:avLst/>
          </a:prstGeom>
          <a:noFill/>
          <a:ln/>
        </p:spPr>
        <p:txBody>
          <a:bodyPr wrap="square" lIns="0" tIns="0" rIns="0" bIns="0" rtlCol="0" anchor="ctr"/>
          <a:lstStyle/>
          <a:p>
            <a:pPr marL="0" indent="0">
              <a:buNone/>
            </a:pPr>
            <a:r>
              <a:rPr lang="en-US" sz="2000" b="1" dirty="0">
                <a:solidFill>
                  <a:srgbClr val="1C6DD0"/>
                </a:solidFill>
                <a:latin typeface="Cambria" pitchFamily="34" charset="0"/>
                <a:ea typeface="Cambria" pitchFamily="34" charset="-122"/>
                <a:cs typeface="Cambria" pitchFamily="34" charset="-120"/>
              </a:rPr>
              <a:t>ANSYS: 40.58 MPa</a:t>
            </a:r>
            <a:endParaRPr lang="en-US" sz="2000" dirty="0"/>
          </a:p>
        </p:txBody>
      </p:sp>
      <p:sp>
        <p:nvSpPr>
          <p:cNvPr id="14" name="Text 12"/>
          <p:cNvSpPr txBox="1"/>
          <p:nvPr/>
        </p:nvSpPr>
        <p:spPr>
          <a:xfrm>
            <a:off x="4983480" y="3697834"/>
            <a:ext cx="3566160" cy="364846"/>
          </a:xfrm>
          <a:prstGeom prst="rect">
            <a:avLst/>
          </a:prstGeom>
          <a:noFill/>
          <a:ln/>
        </p:spPr>
        <p:txBody>
          <a:bodyPr wrap="square" lIns="0" tIns="0" rIns="0" bIns="0" rtlCol="0" anchor="t"/>
          <a:lstStyle/>
          <a:p>
            <a:pPr marL="0" indent="0">
              <a:buNone/>
            </a:pPr>
            <a:r>
              <a:rPr lang="en-US" sz="1100" dirty="0">
                <a:solidFill>
                  <a:srgbClr val="5B6573"/>
                </a:solidFill>
                <a:latin typeface="Calibri" pitchFamily="34" charset="0"/>
                <a:ea typeface="Calibri" pitchFamily="34" charset="-122"/>
                <a:cs typeface="Calibri" pitchFamily="34" charset="-120"/>
              </a:rPr>
              <a:t>About 14% above the corrected hand value</a:t>
            </a:r>
            <a:endParaRPr lang="en-US" sz="1100" dirty="0"/>
          </a:p>
        </p:txBody>
      </p:sp>
      <p:sp>
        <p:nvSpPr>
          <p:cNvPr id="15" name="Text 13"/>
          <p:cNvSpPr txBox="1"/>
          <p:nvPr/>
        </p:nvSpPr>
        <p:spPr>
          <a:xfrm>
            <a:off x="4846320" y="4206240"/>
            <a:ext cx="3840480" cy="640080"/>
          </a:xfrm>
          <a:prstGeom prst="rect">
            <a:avLst/>
          </a:prstGeom>
          <a:noFill/>
          <a:ln/>
        </p:spPr>
        <p:txBody>
          <a:bodyPr wrap="square" lIns="0" tIns="0" rIns="0" bIns="0" rtlCol="0" anchor="t"/>
          <a:lstStyle/>
          <a:p>
            <a:pPr marL="0" indent="0">
              <a:buNone/>
            </a:pPr>
            <a:r>
              <a:rPr lang="en-US" sz="1200" dirty="0">
                <a:solidFill>
                  <a:srgbClr val="5B6573"/>
                </a:solidFill>
                <a:latin typeface="Calibri" pitchFamily="34" charset="0"/>
                <a:ea typeface="Calibri" pitchFamily="34" charset="-122"/>
                <a:cs typeface="Calibri" pitchFamily="34" charset="-120"/>
              </a:rPr>
              <a:t>Likely cause: stress at a fixed-support face is overpredicted by FEA. Read stress 0.3 to 0.5 m from the wall or refine the mesh to confirm.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3" name="Shape 1"/>
          <p:cNvSpPr/>
          <p:nvPr/>
        </p:nvSpPr>
        <p:spPr>
          <a:xfrm>
            <a:off x="548640" y="1463040"/>
            <a:ext cx="457200" cy="457200"/>
          </a:xfrm>
          <a:prstGeom prst="ellipse">
            <a:avLst/>
          </a:prstGeom>
          <a:solidFill>
            <a:srgbClr val="1C6DD0"/>
          </a:solidFill>
          <a:ln w="12700">
            <a:solidFill>
              <a:srgbClr val="1C6DD0"/>
            </a:solidFill>
            <a:prstDash val="solid"/>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188720" y="1417320"/>
            <a:ext cx="740664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Critical element is the top fibre at the fixed wall, in both methods.</a:t>
            </a:r>
            <a:endParaRPr lang="en-US" sz="1700" dirty="0"/>
          </a:p>
        </p:txBody>
      </p:sp>
      <p:sp>
        <p:nvSpPr>
          <p:cNvPr id="6" name="Shape 4"/>
          <p:cNvSpPr/>
          <p:nvPr/>
        </p:nvSpPr>
        <p:spPr>
          <a:xfrm>
            <a:off x="548640" y="2240280"/>
            <a:ext cx="457200" cy="457200"/>
          </a:xfrm>
          <a:prstGeom prst="ellipse">
            <a:avLst/>
          </a:prstGeom>
          <a:solidFill>
            <a:srgbClr val="1C6DD0"/>
          </a:solidFill>
          <a:ln w="12700">
            <a:solidFill>
              <a:srgbClr val="1C6DD0"/>
            </a:solidFill>
            <a:prstDash val="solid"/>
          </a:ln>
        </p:spPr>
      </p:sp>
      <p:sp>
        <p:nvSpPr>
          <p:cNvPr id="7" name="Text 5"/>
          <p:cNvSpPr txBox="1"/>
          <p:nvPr/>
        </p:nvSpPr>
        <p:spPr>
          <a:xfrm>
            <a:off x="54864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188720" y="2194560"/>
            <a:ext cx="740664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Hand SF = 6.15 and ANSYS SF = 6.16: the beam is safe against yielding.</a:t>
            </a:r>
            <a:endParaRPr lang="en-US" sz="1700" dirty="0"/>
          </a:p>
        </p:txBody>
      </p:sp>
      <p:sp>
        <p:nvSpPr>
          <p:cNvPr id="9" name="Shape 7"/>
          <p:cNvSpPr/>
          <p:nvPr/>
        </p:nvSpPr>
        <p:spPr>
          <a:xfrm>
            <a:off x="548640" y="3017520"/>
            <a:ext cx="457200" cy="457200"/>
          </a:xfrm>
          <a:prstGeom prst="ellipse">
            <a:avLst/>
          </a:prstGeom>
          <a:solidFill>
            <a:srgbClr val="1C6DD0"/>
          </a:solidFill>
          <a:ln w="12700">
            <a:solidFill>
              <a:srgbClr val="1C6DD0"/>
            </a:solidFill>
            <a:prstDash val="solid"/>
          </a:ln>
        </p:spPr>
      </p:sp>
      <p:sp>
        <p:nvSpPr>
          <p:cNvPr id="10" name="Text 8"/>
          <p:cNvSpPr txBox="1"/>
          <p:nvPr/>
        </p:nvSpPr>
        <p:spPr>
          <a:xfrm>
            <a:off x="548640" y="3017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188720" y="2971800"/>
            <a:ext cx="740664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von Mises and Tresca agree because the critical state is uniaxial.</a:t>
            </a:r>
            <a:endParaRPr lang="en-US" sz="1700" dirty="0"/>
          </a:p>
        </p:txBody>
      </p:sp>
      <p:sp>
        <p:nvSpPr>
          <p:cNvPr id="12" name="Shape 10"/>
          <p:cNvSpPr/>
          <p:nvPr/>
        </p:nvSpPr>
        <p:spPr>
          <a:xfrm>
            <a:off x="548640" y="3794760"/>
            <a:ext cx="457200" cy="457200"/>
          </a:xfrm>
          <a:prstGeom prst="ellipse">
            <a:avLst/>
          </a:prstGeom>
          <a:solidFill>
            <a:srgbClr val="1C6DD0"/>
          </a:solidFill>
          <a:ln w="12700">
            <a:solidFill>
              <a:srgbClr val="1C6DD0"/>
            </a:solidFill>
            <a:prstDash val="solid"/>
          </a:ln>
        </p:spPr>
      </p:sp>
      <p:sp>
        <p:nvSpPr>
          <p:cNvPr id="13" name="Text 11"/>
          <p:cNvSpPr txBox="1"/>
          <p:nvPr/>
        </p:nvSpPr>
        <p:spPr>
          <a:xfrm>
            <a:off x="548640" y="3794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188720" y="3749040"/>
            <a:ext cx="740664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ANSYS adds the full-field view; correct the triangle moment arm (63 kN·m) and confirm with mesh refinement.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1289</Words>
  <Application>Microsoft Office PowerPoint</Application>
  <PresentationFormat>On-screen Show (16:9)</PresentationFormat>
  <Paragraphs>140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14: Handwritten vs ANSYS</dc:title>
  <dc:subject>PptxGenJS Presentation</dc:subject>
  <dc:creator>PptxGenJS</dc:creator>
  <cp:lastModifiedBy>Atharva Bhosale</cp:lastModifiedBy>
  <cp:revision>2</cp:revision>
  <dcterms:created xsi:type="dcterms:W3CDTF">2026-09-30T20:32:53Z</dcterms:created>
  <dcterms:modified xsi:type="dcterms:W3CDTF">2026-09-30T20:35:09Z</dcterms:modified>
</cp:coreProperties>
</file>